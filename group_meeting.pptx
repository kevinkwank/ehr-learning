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14"/>
    <p:sldId id="264" r:id="rId13"/>
    <p:sldId id="265" r:id="rId12"/>
    <p:sldId id="266" r:id="rId11"/>
    <p:sldId id="267" r:id="rId10"/>
    <p:sldId id="268" r:id="rId9"/>
    <p:sldId id="269" r:id="rId8"/>
    <p:sldId id="270" r:id="rId7"/>
    <p:sldId id="271" r:id="rId6"/>
  </p:sldIdLst>
  <p:sldSz cx="12192000" cy="6858000"/>
  <p:notesSz cx="6858000" cy="9144000"/>
  <p:embeddedFontLst>
    <p:embeddedFont>
      <p:font typeface="微软雅黑" panose="020B0503020204020204" charset="-122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  <p:embeddedFont>
      <p:font typeface="汉仪颜楷简" panose="00020600040101010101" charset="-122"/>
      <p:regular r:id="rId31"/>
    </p:embeddedFont>
  </p:embeddedFontLst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6" userDrawn="1">
          <p15:clr>
            <a:srgbClr val="A4A3A4"/>
          </p15:clr>
        </p15:guide>
        <p15:guide id="2" pos="385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9140" initials="1" lastIdx="1" clrIdx="0"/>
  <p:cmAuthor id="1483810881" name="WPS_1679281038" initials="W" lastIdx="1" clrIdx="2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6A4"/>
    <a:srgbClr val="FFFFFF"/>
    <a:srgbClr val="DFC094"/>
    <a:srgbClr val="D6AE8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06"/>
        <p:guide pos="385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6.xml"/><Relationship Id="rId7" Type="http://schemas.openxmlformats.org/officeDocument/2006/relationships/slide" Target="slides/slide15.xml"/><Relationship Id="rId8" Type="http://schemas.openxmlformats.org/officeDocument/2006/relationships/slide" Target="slides/slide14.xml"/><Relationship Id="rId9" Type="http://schemas.openxmlformats.org/officeDocument/2006/relationships/slide" Target="slides/slide13.xml"/><Relationship Id="rId10" Type="http://schemas.openxmlformats.org/officeDocument/2006/relationships/slide" Target="slides/slide12.xml"/><Relationship Id="rId11" Type="http://schemas.openxmlformats.org/officeDocument/2006/relationships/slide" Target="slides/slide1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Relationship Id="rId25" Type="http://schemas.openxmlformats.org/officeDocument/2006/relationships/commentAuthors" Target="commentAuthors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tags" Target="tags/tag8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3" Type="http://schemas.openxmlformats.org/officeDocument/2006/relationships/tags" Target="../tags/tag16.xml"/><Relationship Id="rId4" Type="http://schemas.openxmlformats.org/officeDocument/2006/relationships/tags" Target="../tags/tag17.xml"/><Relationship Id="rId5" Type="http://schemas.openxmlformats.org/officeDocument/2006/relationships/tags" Target="../tags/tag18.xml"/><Relationship Id="rId6" Type="http://schemas.openxmlformats.org/officeDocument/2006/relationships/tags" Target="../tags/tag19.xml"/><Relationship Id="rId7" Type="http://schemas.openxmlformats.org/officeDocument/2006/relationships/tags" Target="../tags/tag20.xml"/><Relationship Id="rId8" Type="http://schemas.openxmlformats.org/officeDocument/2006/relationships/tags" Target="../tags/tag21.xml"/><Relationship Id="rId9" Type="http://schemas.openxmlformats.org/officeDocument/2006/relationships/tags" Target="../tags/tag22.xml"/><Relationship Id="rId10" Type="http://schemas.openxmlformats.org/officeDocument/2006/relationships/tags" Target="../tags/tag23.xml"/><Relationship Id="rId11" Type="http://schemas.openxmlformats.org/officeDocument/2006/relationships/tags" Target="../tags/tag2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3450" y="18923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82800" y="19558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31496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3450" y="35179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82800" y="35814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9600" y="4775200"/>
            <a:ext cx="10972800" cy="1473200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3450" y="5143500"/>
            <a:ext cx="876300" cy="736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82800" y="5207000"/>
            <a:ext cx="9194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Relationship Id="rId10" Type="http://schemas.openxmlformats.org/officeDocument/2006/relationships/tags" Target="../tags/tag3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8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Adaptive Temporal Semantics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35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Task- and Patient-Conditioned Temporal Representation Learning for Asynchronous EHR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45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Weekly Group Meeting | EHR Representation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8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00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1.  Core Idea: Why Fixed Temporal Windows Fall Short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2.  Paper 1: LLMs as Unified Multimodal Learners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3.  Paper 2: Computable Longitudinal Patient Journeys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4.  Paper 3: Generative Deep Patient (GDP)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5.  Connections &amp;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Core 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Clinical temporal semantics is NOT fixed.</a:t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It varies with: patient state + disease stage + downstream task</a:t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Stable ICU patient:  12-24h history matters (long-term trend)</a:t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Crashing patient:    1-3h history matters (acute dynamics)</a:t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Recovering patient:  6-12h history matters (recovery trajectory)</a:t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20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No universally optimal window exists.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From Fixed Window to Adaptive Kernel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55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Traditional: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if |t_i - t_j| &lt; 5h: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 attend(t_i, t_j)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Problem: same window for all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patients and all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0000" y="1500000"/>
            <a:ext cx="5500000" cy="4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Ours:</a:t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  sigma_t = f(patient_state, task)</a:t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  K(dt) = exp(-dt^2 / (2*sigma_t^2))</a:t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Model learns: how far back</a:t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to look for THIS patient</a:t>
            </a:r>
          </a:p>
          <a:p>
            <a:r>
              <a:rPr sz="1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and THIS task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Three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RQ1: Does fixed temporal granularity limit EHR representation?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Compare 1h / 3h / 5h / 12h / 24h across all tasks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-&gt; No single window is optimal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RQ2: Is temporal relevance patient-dependent?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Learned sigma_t correlates with SOFA change, vital instability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-&gt; Higher acuity -&gt; smaller sigma_t -&gt; focus on recent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RQ3: Should downstream tasks reshape temporal representation?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Mortality: acute + long-term burden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Decompensation: recent rapid dynamics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  Phenotyping: longer-term disease trajectory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Three Core Papers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1: Large Language Models as Unified Multimodal Learners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-&gt; LLM + EHR serialization (naive baseline we improve upon)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2: Computable Longitudinal Patient Journeys (Nature Medicine)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-&gt; Change tracking + knowledge graph + time-to-event analysis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3: GDP - A Multimodal Generative Model for EHR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   -&gt; Next-time-step prediction + cross-modal attention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Paper 1: Unified Multimodal 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Core idea: Serialize ALL clinical data -&gt; feed to LLM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Time-invariant: Age: 67, Sex: Male, HR: 92 bpm ...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Time-variant:  Heart Rate: 76.09, 78.75, 76.88, 69.75 ...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Encoder: ModernBERT (8192 token context)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Decoder: Llama 3.1, Gemma 2B, DeepSeek-R1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Result: Multimodal &gt; unimodal across all models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MIMIC-III mortality: AUROC 0.93 (vs 0.90 fusion baseline)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1: Serialized Input Examples</a:t>
            </a:r>
          </a:p>
        </p:txBody>
      </p:sp>
      <p:pic>
        <p:nvPicPr>
          <p:cNvPr id="5" name="Picture 4" descr="04_unified_page4_fig1_serialized_invari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5000000" cy="3182185"/>
          </a:xfrm>
          <a:prstGeom prst="rect">
            <a:avLst/>
          </a:prstGeom>
        </p:spPr>
      </p:pic>
      <p:pic>
        <p:nvPicPr>
          <p:cNvPr id="6" name="Picture 5" descr="04_unified_page5_fig2_serialized_vari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000" y="1000000"/>
            <a:ext cx="5000000" cy="3182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1: Results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500000"/>
            <a:ext cx="11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Key limitation: comma-separated values lose temporal ordering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No adaptive mechanism - same attention for all patients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Context window explosion with long histories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-&gt; This is exactly what ATSL aims to fix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Paper 2: Computable Longitudinal Patient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Nature Medicine 2026 | 35.12M patients -&gt; 25.3M active adults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Step 1: LLM extraction from unstructured notes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Change tracking: added / modified / removed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F1 = 99.4% against physician reference standard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Step 2: Knowledge graph construction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88M nodes, 241M edges, mapped to UMLS/HPO/RxNorm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Step 3: Longitudinal analysis (GLP-1 RA example)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 Time-to-event analysis beyond fixed time-point endpoints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2: Knowledge Graph &amp; Change Tracking</a:t>
            </a:r>
          </a:p>
        </p:txBody>
      </p:sp>
      <p:pic>
        <p:nvPicPr>
          <p:cNvPr id="5" name="Picture 4" descr="14_concept_discovery_k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10000000" cy="73035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4500000"/>
            <a:ext cx="11000000" cy="2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Change tracking = temporal semantics transition detection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KG as structured knowledge base for ATSL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Time-to-event analysis aligns with adaptive window concept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Paper 3: GDP - Generative Deep Patient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Unified model for BOTH classification AND narrative generation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Structured EHR -&gt; CNN-Transformer encoder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Clinical notes -&gt; BERT encoder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LLaMA decoder + cross-modal attention to both encoders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Pre-training objectives: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1. Masked Feature Prediction (MFP)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2. Next-Time-step Prediction (NTP) &lt;- temporal semantics!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  3. Generative pretraining (discharge summaries)</a:t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Result: HF AUROC 0.923 (vs 0.779 baseline)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300000"/>
            <a:ext cx="11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3: Architecture &amp; Results</a:t>
            </a:r>
          </a:p>
        </p:txBody>
      </p:sp>
      <p:pic>
        <p:nvPicPr>
          <p:cNvPr id="5" name="Picture 4" descr="03_gdp_page3_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000000"/>
            <a:ext cx="10000000" cy="6642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000" y="5000000"/>
            <a:ext cx="11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NTP = temporal semantics learning (but fixed granularity)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Task-conditioned representation needed</a:t>
            </a:r>
          </a:p>
          <a:p>
            <a:r>
              <a:rPr sz="18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ATSL can upgrade NTP to adaptive temporal semantics prediction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Connections to ATSL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55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Strengths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1: LLMs can integrate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multimodal clinical data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2: Longitudinal change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tracking captures transitions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Paper 3: NTP learns temporal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structure effectively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0000" y="1500000"/>
            <a:ext cx="55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Gaps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1: No explicit temporal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modeling, no adaptation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2: Descriptive only,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no predictive model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Paper 3: Fixed granularity,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no task conditioning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000" y="4200000"/>
            <a:ext cx="55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Our Opportunity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sigma_t = f(patient_state, task)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Adaptive temporal kernel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learned bandwidth per patient</a:t>
            </a:r>
          </a:p>
          <a:p>
            <a:r>
              <a:rPr sz="1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and per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0000" y="4200000"/>
            <a:ext cx="5500000" cy="2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Future Work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Combine change tracking with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adaptive sigma_t switching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Use KG as structured knowledge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base for temporal semantics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/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Upgrade GDP's NTP to adaptive</a:t>
            </a:r>
          </a:p>
          <a:p>
            <a:r>
              <a:rPr sz="16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temporal semantics 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500000"/>
            <a:ext cx="11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solidFill>
                  <a:srgbClr val="0166A4"/>
                </a:solidFill>
                <a:latin typeface="Times New Roman"/>
                <a:ea typeface="楷体"/>
                <a:cs typeface="楷体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500000"/>
            <a:ext cx="11000000" cy="5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1. Implement adaptive temporal kernel module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2. Run fixed window comparison (RQ1)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3. Train on MIMIC-IV with 4 clinical tasks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4. Analyze learned sigma_t vs clinical indicators (RQ2)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5. Task-conditioned evaluation (RQ3)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6. Ablation study: A1 -&gt; A5</a:t>
            </a:r>
          </a:p>
          <a:p>
            <a:r>
              <a:rPr sz="2200" b="0">
                <a:solidFill>
                  <a:srgbClr val="000000"/>
                </a:solidFill>
                <a:latin typeface="Times New Roman"/>
                <a:ea typeface="楷体"/>
                <a:cs typeface="楷体"/>
              </a:rPr>
              <a:t>7. Paper writing &amp; submission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66A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8000000" cy="1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4000000"/>
            <a:ext cx="8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Times New Roman"/>
                <a:ea typeface="楷体"/>
                <a:cs typeface="楷体"/>
              </a:rPr>
              <a:t>Questions &amp; Discussion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999184b993c31d7786fe1e68ed5502bd7b635a"/>
  <p:tag name="KSO_WM_NEWLAYOUT_ID" val="22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1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2_1"/>
  <p:tag name="KSO_WM_UNIT_TYPE" val="l_h_i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UNIT_INDEX" val="1_3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0.xml><?xml version="1.0" encoding="utf-8"?>
<p:tagLst xmlns:p="http://schemas.openxmlformats.org/presentationml/2006/main">
  <p:tag name="resource_record_key" val="{&quot;10&quot;:[21538602,4527388,20282147,21587947,50033282,20051811,50036920,20280177,20254439,50062482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2373</Words>
  <Application>WPS 演示</Application>
  <PresentationFormat>宽屏</PresentationFormat>
  <Paragraphs>219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8" baseType="lpstr">
      <vt:lpstr>Arial</vt:lpstr>
      <vt:lpstr>宋体</vt:lpstr>
      <vt:lpstr>Wingdings</vt:lpstr>
      <vt:lpstr>Wingdings</vt:lpstr>
      <vt:lpstr>微软雅黑</vt:lpstr>
      <vt:lpstr>OPPOSans R</vt:lpstr>
      <vt:lpstr>Calibri</vt:lpstr>
      <vt:lpstr>汉仪君黑-45简</vt:lpstr>
      <vt:lpstr>MiSans Light</vt:lpstr>
      <vt:lpstr>思源黑体 CN Bold</vt:lpstr>
      <vt:lpstr>黑体</vt:lpstr>
      <vt:lpstr>思源黑体 Regular</vt:lpstr>
      <vt:lpstr>思源黑体 Bold</vt:lpstr>
      <vt:lpstr>汉仪超粗圆简</vt:lpstr>
      <vt:lpstr>汉仪粗简黑简</vt:lpstr>
      <vt:lpstr>等线</vt:lpstr>
      <vt:lpstr>OPPOSans H</vt:lpstr>
      <vt:lpstr>汉仪颜楷简</vt:lpstr>
      <vt:lpstr>Arial Unicode MS</vt:lpstr>
      <vt:lpstr>WPS</vt:lpstr>
      <vt:lpstr>PowerPoint 演示文稿</vt:lpstr>
      <vt:lpstr>Contents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Click here to add your title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April</cp:lastModifiedBy>
  <cp:revision>199</cp:revision>
  <dcterms:created xsi:type="dcterms:W3CDTF">2019-06-19T02:08:00Z</dcterms:created>
  <dcterms:modified xsi:type="dcterms:W3CDTF">2026-05-26T06:03:52Z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2052-12.1.0.22175</vt:lpwstr>
  </property>
  <property fmtid="{D5CDD505-2E9C-101B-9397-08002B2CF9AE}" pid="3" name="ICV">
    <vt:lpwstr>343CE61C1A954672BD19B24F0C3FCCC3_13</vt:lpwstr>
  </property>
</Properties>
</file>