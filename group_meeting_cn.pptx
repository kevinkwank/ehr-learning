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5"/>
  </p:notesMasterIdLst>
  <p:sldIdLst>
    <p:sldId id="256" r:id="rId15"/>
    <p:sldId id="257" r:id="rId16"/>
    <p:sldId id="258" r:id="rId17"/>
    <p:sldId id="259" r:id="rId18"/>
    <p:sldId id="260" r:id="rId19"/>
    <p:sldId id="261" r:id="rId20"/>
    <p:sldId id="262" r:id="rId21"/>
    <p:sldId id="263" r:id="rId14"/>
    <p:sldId id="264" r:id="rId13"/>
    <p:sldId id="265" r:id="rId12"/>
    <p:sldId id="266" r:id="rId11"/>
    <p:sldId id="267" r:id="rId10"/>
    <p:sldId id="268" r:id="rId9"/>
    <p:sldId id="269" r:id="rId8"/>
    <p:sldId id="270" r:id="rId7"/>
    <p:sldId id="271" r:id="rId6"/>
  </p:sldIdLst>
  <p:sldSz cx="12192000" cy="6858000"/>
  <p:notesSz cx="6858000" cy="9144000"/>
  <p:embeddedFontLst>
    <p:embeddedFont>
      <p:font typeface="微软雅黑" panose="020B0503020204020204" charset="-122"/>
      <p:regular r:id="rId26"/>
    </p:embeddedFont>
    <p:embeddedFont>
      <p:font typeface="Calibri" panose="020F0502020204030204" charset="0"/>
      <p:regular r:id="rId27"/>
      <p:bold r:id="rId28"/>
      <p:italic r:id="rId29"/>
      <p:boldItalic r:id="rId30"/>
    </p:embeddedFont>
    <p:embeddedFont>
      <p:font typeface="汉仪颜楷简" panose="00020600040101010101" charset="-122"/>
      <p:regular r:id="rId31"/>
    </p:embeddedFont>
  </p:embeddedFontLst>
  <p:custDataLst>
    <p:tags r:id="rId3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06" userDrawn="1">
          <p15:clr>
            <a:srgbClr val="A4A3A4"/>
          </p15:clr>
        </p15:guide>
        <p15:guide id="2" pos="3853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19140" initials="1" lastIdx="1" clrIdx="0"/>
  <p:cmAuthor id="1483810881" name="WPS_1679281038" initials="W" lastIdx="1" clrIdx="2"/>
  <p:cmAuthor id="2" name="作者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166A4"/>
    <a:srgbClr val="FFFFFF"/>
    <a:srgbClr val="DFC094"/>
    <a:srgbClr val="D6AE83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06"/>
        <p:guide pos="3853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6.xml"/><Relationship Id="rId7" Type="http://schemas.openxmlformats.org/officeDocument/2006/relationships/slide" Target="slides/slide15.xml"/><Relationship Id="rId8" Type="http://schemas.openxmlformats.org/officeDocument/2006/relationships/slide" Target="slides/slide14.xml"/><Relationship Id="rId9" Type="http://schemas.openxmlformats.org/officeDocument/2006/relationships/slide" Target="slides/slide13.xml"/><Relationship Id="rId10" Type="http://schemas.openxmlformats.org/officeDocument/2006/relationships/slide" Target="slides/slide12.xml"/><Relationship Id="rId11" Type="http://schemas.openxmlformats.org/officeDocument/2006/relationships/slide" Target="slides/slide11.xml"/><Relationship Id="rId12" Type="http://schemas.openxmlformats.org/officeDocument/2006/relationships/slide" Target="slides/slide10.xml"/><Relationship Id="rId13" Type="http://schemas.openxmlformats.org/officeDocument/2006/relationships/slide" Target="slides/slide9.xml"/><Relationship Id="rId14" Type="http://schemas.openxmlformats.org/officeDocument/2006/relationships/slide" Target="slides/slide8.xml"/><Relationship Id="rId15" Type="http://schemas.openxmlformats.org/officeDocument/2006/relationships/slide" Target="slides/slide1.xml"/><Relationship Id="rId16" Type="http://schemas.openxmlformats.org/officeDocument/2006/relationships/slide" Target="slides/slide2.xml"/><Relationship Id="rId17" Type="http://schemas.openxmlformats.org/officeDocument/2006/relationships/slide" Target="slides/slide3.xml"/><Relationship Id="rId18" Type="http://schemas.openxmlformats.org/officeDocument/2006/relationships/slide" Target="slides/slide4.xml"/><Relationship Id="rId19" Type="http://schemas.openxmlformats.org/officeDocument/2006/relationships/slide" Target="slides/slide5.xml"/><Relationship Id="rId20" Type="http://schemas.openxmlformats.org/officeDocument/2006/relationships/slide" Target="slides/slide6.xml"/><Relationship Id="rId21" Type="http://schemas.openxmlformats.org/officeDocument/2006/relationships/slide" Target="slides/slide7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ableStyles" Target="tableStyles.xml"/><Relationship Id="rId25" Type="http://schemas.openxmlformats.org/officeDocument/2006/relationships/commentAuthors" Target="commentAuthors.xml"/><Relationship Id="rId26" Type="http://schemas.openxmlformats.org/officeDocument/2006/relationships/font" Target="fonts/font1.fntdata"/><Relationship Id="rId27" Type="http://schemas.openxmlformats.org/officeDocument/2006/relationships/font" Target="fonts/font2.fntdata"/><Relationship Id="rId28" Type="http://schemas.openxmlformats.org/officeDocument/2006/relationships/font" Target="fonts/font3.fntdata"/><Relationship Id="rId29" Type="http://schemas.openxmlformats.org/officeDocument/2006/relationships/font" Target="fonts/font4.fntdata"/><Relationship Id="rId30" Type="http://schemas.openxmlformats.org/officeDocument/2006/relationships/font" Target="fonts/font5.fntdata"/><Relationship Id="rId31" Type="http://schemas.openxmlformats.org/officeDocument/2006/relationships/font" Target="fonts/font6.fntdata"/><Relationship Id="rId32" Type="http://schemas.openxmlformats.org/officeDocument/2006/relationships/tags" Target="tags/tag8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1.xml"/><Relationship Id="rId3" Type="http://schemas.openxmlformats.org/officeDocument/2006/relationships/tags" Target="../tags/tag2.xml"/><Relationship Id="rId4" Type="http://schemas.openxmlformats.org/officeDocument/2006/relationships/tags" Target="../tags/tag3.xml"/><Relationship Id="rId5" Type="http://schemas.openxmlformats.org/officeDocument/2006/relationships/tags" Target="../tags/tag4.xml"/><Relationship Id="rId6" Type="http://schemas.openxmlformats.org/officeDocument/2006/relationships/tags" Target="../tags/tag5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6.xml"/><Relationship Id="rId3" Type="http://schemas.openxmlformats.org/officeDocument/2006/relationships/tags" Target="../tags/tag7.xml"/><Relationship Id="rId4" Type="http://schemas.openxmlformats.org/officeDocument/2006/relationships/tags" Target="../tags/tag8.xml"/><Relationship Id="rId5" Type="http://schemas.openxmlformats.org/officeDocument/2006/relationships/tags" Target="../tags/tag9.xml"/><Relationship Id="rId6" Type="http://schemas.openxmlformats.org/officeDocument/2006/relationships/tags" Target="../tags/tag10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11.xml"/><Relationship Id="rId3" Type="http://schemas.openxmlformats.org/officeDocument/2006/relationships/tags" Target="../tags/tag12.xml"/><Relationship Id="rId4" Type="http://schemas.openxmlformats.org/officeDocument/2006/relationships/tags" Target="../tags/tag13.xml"/><Relationship Id="rId5" Type="http://schemas.openxmlformats.org/officeDocument/2006/relationships/tags" Target="../tags/tag14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15.xml"/><Relationship Id="rId3" Type="http://schemas.openxmlformats.org/officeDocument/2006/relationships/tags" Target="../tags/tag16.xml"/><Relationship Id="rId4" Type="http://schemas.openxmlformats.org/officeDocument/2006/relationships/tags" Target="../tags/tag17.xml"/><Relationship Id="rId5" Type="http://schemas.openxmlformats.org/officeDocument/2006/relationships/tags" Target="../tags/tag18.xml"/><Relationship Id="rId6" Type="http://schemas.openxmlformats.org/officeDocument/2006/relationships/tags" Target="../tags/tag19.xml"/><Relationship Id="rId7" Type="http://schemas.openxmlformats.org/officeDocument/2006/relationships/tags" Target="../tags/tag20.xml"/><Relationship Id="rId8" Type="http://schemas.openxmlformats.org/officeDocument/2006/relationships/tags" Target="../tags/tag21.xml"/><Relationship Id="rId9" Type="http://schemas.openxmlformats.org/officeDocument/2006/relationships/tags" Target="../tags/tag22.xml"/><Relationship Id="rId10" Type="http://schemas.openxmlformats.org/officeDocument/2006/relationships/tags" Target="../tags/tag23.xml"/><Relationship Id="rId11" Type="http://schemas.openxmlformats.org/officeDocument/2006/relationships/tags" Target="../tags/tag2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多行文本_3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7" name="装饰  6"/>
          <p:cNvSpPr>
            <a:spLocks noGrp="1"/>
          </p:cNvSpPr>
          <p:nvPr>
            <p:ph type="body" idx="16392" hasCustomPrompt="1"/>
            <p:custDataLst>
              <p:tags r:id="rId3"/>
            </p:custDataLst>
          </p:nvPr>
        </p:nvSpPr>
        <p:spPr>
          <a:xfrm>
            <a:off x="609600" y="1524000"/>
            <a:ext cx="10972800" cy="1473200"/>
          </a:xfrm>
          <a:custGeom>
            <a:avLst/>
            <a:gdLst>
              <a:gd name="connisteX0" fmla="*/ 0 w 10972800"/>
              <a:gd name="connsiteY0" fmla="*/ 203200 h 1473200"/>
              <a:gd name="connisteX1" fmla="*/ 203200 w 10972800"/>
              <a:gd name="connsiteY1" fmla="*/ 0 h 1473200"/>
              <a:gd name="connisteX2" fmla="*/ 10769600 w 10972800"/>
              <a:gd name="connsiteY2" fmla="*/ 0 h 1473200"/>
              <a:gd name="connisteX3" fmla="*/ 10972800 w 10972800"/>
              <a:gd name="connsiteY3" fmla="*/ 203200 h 1473200"/>
              <a:gd name="connisteX4" fmla="*/ 10972800 w 10972800"/>
              <a:gd name="connsiteY4" fmla="*/ 1270000 h 1473200"/>
              <a:gd name="connisteX5" fmla="*/ 10769600 w 10972800"/>
              <a:gd name="connsiteY5" fmla="*/ 1473200 h 1473200"/>
              <a:gd name="connisteX6" fmla="*/ 203200 w 10972800"/>
              <a:gd name="connsiteY6" fmla="*/ 1473200 h 1473200"/>
              <a:gd name="connisteX7" fmla="*/ 0 w 10972800"/>
              <a:gd name="connsiteY7" fmla="*/ 1270000 h 1473200"/>
              <a:gd name="connisteX8" fmla="*/ 0 w 10972800"/>
              <a:gd name="connsiteY8" fmla="*/ 203200 h 1473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1473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1270000"/>
                </a:lnTo>
                <a:cubicBezTo>
                  <a:pt x="10972800" y="1382224"/>
                  <a:pt x="10881824" y="1473200"/>
                  <a:pt x="10769600" y="1473200"/>
                </a:cubicBezTo>
                <a:lnTo>
                  <a:pt x="203200" y="1473200"/>
                </a:lnTo>
                <a:cubicBezTo>
                  <a:pt x="90976" y="1473200"/>
                  <a:pt x="0" y="1382224"/>
                  <a:pt x="0" y="12700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8" name="文本占位符 7"/>
          <p:cNvSpPr>
            <a:spLocks noGrp="1"/>
          </p:cNvSpPr>
          <p:nvPr>
            <p:ph type="body" idx="16387" hasCustomPrompt="1"/>
            <p:custDataLst>
              <p:tags r:id="rId4"/>
            </p:custDataLst>
          </p:nvPr>
        </p:nvSpPr>
        <p:spPr>
          <a:xfrm>
            <a:off x="933450" y="1892300"/>
            <a:ext cx="876300" cy="7366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58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01</a:t>
            </a:r>
            <a:endParaRPr lang="zh-CN" altLang="en-US" smtClean="0"/>
          </a:p>
        </p:txBody>
      </p:sp>
      <p:sp>
        <p:nvSpPr>
          <p:cNvPr id="9" name="文本占位符 8"/>
          <p:cNvSpPr>
            <a:spLocks noGrp="1"/>
          </p:cNvSpPr>
          <p:nvPr>
            <p:ph type="body" idx="16386" hasCustomPrompt="1"/>
            <p:custDataLst>
              <p:tags r:id="rId5"/>
            </p:custDataLst>
          </p:nvPr>
        </p:nvSpPr>
        <p:spPr>
          <a:xfrm>
            <a:off x="2082800" y="1955800"/>
            <a:ext cx="9194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0" name="装饰  9"/>
          <p:cNvSpPr>
            <a:spLocks noGrp="1"/>
          </p:cNvSpPr>
          <p:nvPr>
            <p:ph type="body" idx="16393" hasCustomPrompt="1"/>
            <p:custDataLst>
              <p:tags r:id="rId6"/>
            </p:custDataLst>
          </p:nvPr>
        </p:nvSpPr>
        <p:spPr>
          <a:xfrm>
            <a:off x="609600" y="3149600"/>
            <a:ext cx="10972800" cy="1473200"/>
          </a:xfrm>
          <a:custGeom>
            <a:avLst/>
            <a:gdLst>
              <a:gd name="connisteX0" fmla="*/ 0 w 10972800"/>
              <a:gd name="connsiteY0" fmla="*/ 203200 h 1473200"/>
              <a:gd name="connisteX1" fmla="*/ 203200 w 10972800"/>
              <a:gd name="connsiteY1" fmla="*/ 0 h 1473200"/>
              <a:gd name="connisteX2" fmla="*/ 10769600 w 10972800"/>
              <a:gd name="connsiteY2" fmla="*/ 0 h 1473200"/>
              <a:gd name="connisteX3" fmla="*/ 10972800 w 10972800"/>
              <a:gd name="connsiteY3" fmla="*/ 203200 h 1473200"/>
              <a:gd name="connisteX4" fmla="*/ 10972800 w 10972800"/>
              <a:gd name="connsiteY4" fmla="*/ 1270000 h 1473200"/>
              <a:gd name="connisteX5" fmla="*/ 10769600 w 10972800"/>
              <a:gd name="connsiteY5" fmla="*/ 1473200 h 1473200"/>
              <a:gd name="connisteX6" fmla="*/ 203200 w 10972800"/>
              <a:gd name="connsiteY6" fmla="*/ 1473200 h 1473200"/>
              <a:gd name="connisteX7" fmla="*/ 0 w 10972800"/>
              <a:gd name="connsiteY7" fmla="*/ 1270000 h 1473200"/>
              <a:gd name="connisteX8" fmla="*/ 0 w 10972800"/>
              <a:gd name="connsiteY8" fmla="*/ 203200 h 1473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1473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1270000"/>
                </a:lnTo>
                <a:cubicBezTo>
                  <a:pt x="10972800" y="1382224"/>
                  <a:pt x="10881824" y="1473200"/>
                  <a:pt x="10769600" y="1473200"/>
                </a:cubicBezTo>
                <a:lnTo>
                  <a:pt x="203200" y="1473200"/>
                </a:lnTo>
                <a:cubicBezTo>
                  <a:pt x="90976" y="1473200"/>
                  <a:pt x="0" y="1382224"/>
                  <a:pt x="0" y="12700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1" name="文本占位符 10"/>
          <p:cNvSpPr>
            <a:spLocks noGrp="1"/>
          </p:cNvSpPr>
          <p:nvPr>
            <p:ph type="body" idx="16389" hasCustomPrompt="1"/>
            <p:custDataLst>
              <p:tags r:id="rId7"/>
            </p:custDataLst>
          </p:nvPr>
        </p:nvSpPr>
        <p:spPr>
          <a:xfrm>
            <a:off x="933450" y="3517900"/>
            <a:ext cx="876300" cy="7366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58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02</a:t>
            </a:r>
            <a:endParaRPr lang="zh-CN" altLang="en-US" smtClean="0"/>
          </a:p>
        </p:txBody>
      </p:sp>
      <p:sp>
        <p:nvSpPr>
          <p:cNvPr id="12" name="文本占位符 11"/>
          <p:cNvSpPr>
            <a:spLocks noGrp="1"/>
          </p:cNvSpPr>
          <p:nvPr>
            <p:ph type="body" idx="16388" hasCustomPrompt="1"/>
            <p:custDataLst>
              <p:tags r:id="rId8"/>
            </p:custDataLst>
          </p:nvPr>
        </p:nvSpPr>
        <p:spPr>
          <a:xfrm>
            <a:off x="2082800" y="3581400"/>
            <a:ext cx="9194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3" name="装饰  2"/>
          <p:cNvSpPr>
            <a:spLocks noGrp="1"/>
          </p:cNvSpPr>
          <p:nvPr>
            <p:ph type="body" idx="16394" hasCustomPrompt="1"/>
            <p:custDataLst>
              <p:tags r:id="rId9"/>
            </p:custDataLst>
          </p:nvPr>
        </p:nvSpPr>
        <p:spPr>
          <a:xfrm>
            <a:off x="609600" y="4775200"/>
            <a:ext cx="10972800" cy="1473200"/>
          </a:xfrm>
          <a:custGeom>
            <a:avLst/>
            <a:gdLst>
              <a:gd name="connisteX0" fmla="*/ 0 w 10972800"/>
              <a:gd name="connsiteY0" fmla="*/ 203200 h 1473200"/>
              <a:gd name="connisteX1" fmla="*/ 203200 w 10972800"/>
              <a:gd name="connsiteY1" fmla="*/ 0 h 1473200"/>
              <a:gd name="connisteX2" fmla="*/ 10769600 w 10972800"/>
              <a:gd name="connsiteY2" fmla="*/ 0 h 1473200"/>
              <a:gd name="connisteX3" fmla="*/ 10972800 w 10972800"/>
              <a:gd name="connsiteY3" fmla="*/ 203200 h 1473200"/>
              <a:gd name="connisteX4" fmla="*/ 10972800 w 10972800"/>
              <a:gd name="connsiteY4" fmla="*/ 1270000 h 1473200"/>
              <a:gd name="connisteX5" fmla="*/ 10769600 w 10972800"/>
              <a:gd name="connsiteY5" fmla="*/ 1473200 h 1473200"/>
              <a:gd name="connisteX6" fmla="*/ 203200 w 10972800"/>
              <a:gd name="connsiteY6" fmla="*/ 1473200 h 1473200"/>
              <a:gd name="connisteX7" fmla="*/ 0 w 10972800"/>
              <a:gd name="connsiteY7" fmla="*/ 1270000 h 1473200"/>
              <a:gd name="connisteX8" fmla="*/ 0 w 10972800"/>
              <a:gd name="connsiteY8" fmla="*/ 203200 h 1473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1473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1270000"/>
                </a:lnTo>
                <a:cubicBezTo>
                  <a:pt x="10972800" y="1382224"/>
                  <a:pt x="10881824" y="1473200"/>
                  <a:pt x="10769600" y="1473200"/>
                </a:cubicBezTo>
                <a:lnTo>
                  <a:pt x="203200" y="1473200"/>
                </a:lnTo>
                <a:cubicBezTo>
                  <a:pt x="90976" y="1473200"/>
                  <a:pt x="0" y="1382224"/>
                  <a:pt x="0" y="12700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91" hasCustomPrompt="1"/>
            <p:custDataLst>
              <p:tags r:id="rId10"/>
            </p:custDataLst>
          </p:nvPr>
        </p:nvSpPr>
        <p:spPr>
          <a:xfrm>
            <a:off x="933450" y="5143500"/>
            <a:ext cx="876300" cy="7366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58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03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90" hasCustomPrompt="1"/>
            <p:custDataLst>
              <p:tags r:id="rId11"/>
            </p:custDataLst>
          </p:nvPr>
        </p:nvSpPr>
        <p:spPr>
          <a:xfrm>
            <a:off x="2082800" y="5207000"/>
            <a:ext cx="9194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ags" Target="../tags/tag25.xml"/><Relationship Id="rId6" Type="http://schemas.openxmlformats.org/officeDocument/2006/relationships/tags" Target="../tags/tag26.xml"/><Relationship Id="rId7" Type="http://schemas.openxmlformats.org/officeDocument/2006/relationships/tags" Target="../tags/tag27.xml"/><Relationship Id="rId8" Type="http://schemas.openxmlformats.org/officeDocument/2006/relationships/tags" Target="../tags/tag28.xml"/><Relationship Id="rId9" Type="http://schemas.openxmlformats.org/officeDocument/2006/relationships/tags" Target="../tags/tag29.xml"/><Relationship Id="rId10" Type="http://schemas.openxmlformats.org/officeDocument/2006/relationships/tags" Target="../tags/tag30.xml"/><Relationship Id="rId1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6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7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8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9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0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166A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00000" y="2000000"/>
            <a:ext cx="9000000" cy="1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Times New Roman"/>
                <a:ea typeface="楷体"/>
                <a:cs typeface="楷体"/>
              </a:rPr>
              <a:t>自适应时间语义学习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0000" y="3600000"/>
            <a:ext cx="9000000" cy="8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FFFFFF"/>
                </a:solidFill>
                <a:latin typeface="Times New Roman"/>
                <a:ea typeface="楷体"/>
                <a:cs typeface="楷体"/>
              </a:rPr>
              <a:t>面向异步EHR的任务与患者条件化时序表征学习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0000" y="4600000"/>
            <a:ext cx="9000000" cy="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FFFFFF"/>
                </a:solidFill>
                <a:latin typeface="Times New Roman"/>
                <a:ea typeface="楷体"/>
                <a:cs typeface="楷体"/>
              </a:rPr>
              <a:t>每周组会 | EHR表征学习小组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00000" y="500000"/>
            <a:ext cx="9000000" cy="8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0166A4"/>
                </a:solidFill>
                <a:latin typeface="Times New Roman"/>
                <a:ea typeface="楷体"/>
                <a:cs typeface="楷体"/>
              </a:rPr>
              <a:t>目录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0000" y="1500000"/>
            <a:ext cx="11000000" cy="4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800"/>
              </a:spcBef>
            </a:pPr>
            <a:r>
              <a:rPr sz="2200" b="0">
                <a:solidFill>
                  <a:srgbClr val="000000"/>
                </a:solidFill>
                <a:latin typeface="Times New Roman"/>
                <a:ea typeface="楷体"/>
                <a:cs typeface="楷体"/>
              </a:rPr>
              <a:t>1.  核心思路：为什么固定时间窗口不够用</a:t>
            </a:r>
          </a:p>
          <a:p>
            <a:pPr>
              <a:spcBef>
                <a:spcPts val="800"/>
              </a:spcBef>
            </a:pPr>
            <a:r>
              <a:rPr sz="2200" b="0">
                <a:solidFill>
                  <a:srgbClr val="000000"/>
                </a:solidFill>
                <a:latin typeface="Times New Roman"/>
                <a:ea typeface="楷体"/>
                <a:cs typeface="楷体"/>
              </a:rPr>
              <a:t>2.  论文一：大语言模型作为统一多模态学习器</a:t>
            </a:r>
          </a:p>
          <a:p>
            <a:pPr>
              <a:spcBef>
                <a:spcPts val="800"/>
              </a:spcBef>
            </a:pPr>
            <a:r>
              <a:rPr sz="2200" b="0">
                <a:solidFill>
                  <a:srgbClr val="000000"/>
                </a:solidFill>
                <a:latin typeface="Times New Roman"/>
                <a:ea typeface="楷体"/>
                <a:cs typeface="楷体"/>
              </a:rPr>
              <a:t>3.  论文二：可计算的纵向患者旅程</a:t>
            </a:r>
          </a:p>
          <a:p>
            <a:pPr>
              <a:spcBef>
                <a:spcPts val="800"/>
              </a:spcBef>
            </a:pPr>
            <a:r>
              <a:rPr sz="2200" b="0">
                <a:solidFill>
                  <a:srgbClr val="000000"/>
                </a:solidFill>
                <a:latin typeface="Times New Roman"/>
                <a:ea typeface="楷体"/>
                <a:cs typeface="楷体"/>
              </a:rPr>
              <a:t>4.  论文三：生成式深度患者模型（GDP）</a:t>
            </a:r>
          </a:p>
          <a:p>
            <a:pPr>
              <a:spcBef>
                <a:spcPts val="800"/>
              </a:spcBef>
            </a:pPr>
            <a:r>
              <a:rPr sz="2200" b="0">
                <a:solidFill>
                  <a:srgbClr val="000000"/>
                </a:solidFill>
                <a:latin typeface="Times New Roman"/>
                <a:ea typeface="楷体"/>
                <a:cs typeface="楷体"/>
              </a:rPr>
              <a:t>5.  与我们研究的关联 &amp; 讨论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00000" y="500000"/>
            <a:ext cx="11000000" cy="8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0166A4"/>
                </a:solidFill>
                <a:latin typeface="Times New Roman"/>
                <a:ea typeface="楷体"/>
                <a:cs typeface="楷体"/>
              </a:rPr>
              <a:t>核心假设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0000" y="1500000"/>
            <a:ext cx="11000000" cy="50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</a:pPr>
            <a:r>
              <a:rPr sz="2000" b="0">
                <a:solidFill>
                  <a:srgbClr val="000000"/>
                </a:solidFill>
                <a:latin typeface="Times New Roman"/>
                <a:ea typeface="楷体"/>
                <a:cs typeface="楷体"/>
              </a:rPr>
              <a:t>临床时间语义不是固定的。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000000"/>
                </a:solidFill>
                <a:latin typeface="Times New Roman"/>
                <a:ea typeface="楷体"/>
                <a:cs typeface="楷体"/>
              </a:rPr>
              <a:t/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000000"/>
                </a:solidFill>
                <a:latin typeface="Times New Roman"/>
                <a:ea typeface="楷体"/>
                <a:cs typeface="楷体"/>
              </a:rPr>
              <a:t>它随患者状态、病程阶段和下游任务而改变：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000000"/>
                </a:solidFill>
                <a:latin typeface="Times New Roman"/>
                <a:ea typeface="楷体"/>
                <a:cs typeface="楷体"/>
              </a:rPr>
              <a:t/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000000"/>
                </a:solidFill>
                <a:latin typeface="Times New Roman"/>
                <a:ea typeface="楷体"/>
                <a:cs typeface="楷体"/>
              </a:rPr>
              <a:t>稳定 ICU 患者：    需要 12-24h 历史（长期趋势）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000000"/>
                </a:solidFill>
                <a:latin typeface="Times New Roman"/>
                <a:ea typeface="楷体"/>
                <a:cs typeface="楷体"/>
              </a:rPr>
              <a:t>急剧恶化患者：    需要 1-3h 历史（急性动态）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000000"/>
                </a:solidFill>
                <a:latin typeface="Times New Roman"/>
                <a:ea typeface="楷体"/>
                <a:cs typeface="楷体"/>
              </a:rPr>
              <a:t>恢复期患者：      需要 6-12h 历史（恢复轨迹）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000000"/>
                </a:solidFill>
                <a:latin typeface="Times New Roman"/>
                <a:ea typeface="楷体"/>
                <a:cs typeface="楷体"/>
              </a:rPr>
              <a:t/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000000"/>
                </a:solidFill>
                <a:latin typeface="Times New Roman"/>
                <a:ea typeface="楷体"/>
                <a:cs typeface="楷体"/>
              </a:rPr>
              <a:t>不存在 universally optimal 的固定时间窗口。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00000" y="500000"/>
            <a:ext cx="11000000" cy="8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0166A4"/>
                </a:solidFill>
                <a:latin typeface="Times New Roman"/>
                <a:ea typeface="楷体"/>
                <a:cs typeface="楷体"/>
              </a:rPr>
              <a:t>从固定窗口到自适应核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0000" y="1500000"/>
            <a:ext cx="5200000" cy="40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</a:pPr>
            <a:r>
              <a:rPr sz="1800" b="0">
                <a:solidFill>
                  <a:srgbClr val="000000"/>
                </a:solidFill>
                <a:latin typeface="Times New Roman"/>
                <a:ea typeface="楷体"/>
                <a:cs typeface="楷体"/>
              </a:rPr>
              <a:t>传统方法：</a:t>
            </a:r>
          </a:p>
          <a:p>
            <a:pPr>
              <a:spcBef>
                <a:spcPts val="600"/>
              </a:spcBef>
            </a:pPr>
            <a:r>
              <a:rPr sz="1800" b="0">
                <a:solidFill>
                  <a:srgbClr val="000000"/>
                </a:solidFill>
                <a:latin typeface="Times New Roman"/>
                <a:ea typeface="楷体"/>
                <a:cs typeface="楷体"/>
              </a:rPr>
              <a:t>  if |t_i - t_j| &lt; 5h:</a:t>
            </a:r>
          </a:p>
          <a:p>
            <a:pPr>
              <a:spcBef>
                <a:spcPts val="600"/>
              </a:spcBef>
            </a:pPr>
            <a:r>
              <a:rPr sz="1800" b="0">
                <a:solidFill>
                  <a:srgbClr val="000000"/>
                </a:solidFill>
                <a:latin typeface="Times New Roman"/>
                <a:ea typeface="楷体"/>
                <a:cs typeface="楷体"/>
              </a:rPr>
              <a:t>      attend(t_i, t_j)</a:t>
            </a:r>
          </a:p>
          <a:p>
            <a:pPr>
              <a:spcBef>
                <a:spcPts val="600"/>
              </a:spcBef>
            </a:pPr>
            <a:r>
              <a:rPr sz="1800" b="0">
                <a:solidFill>
                  <a:srgbClr val="000000"/>
                </a:solidFill>
                <a:latin typeface="Times New Roman"/>
                <a:ea typeface="楷体"/>
                <a:cs typeface="楷体"/>
              </a:rPr>
              <a:t/>
            </a:r>
          </a:p>
          <a:p>
            <a:pPr>
              <a:spcBef>
                <a:spcPts val="600"/>
              </a:spcBef>
            </a:pPr>
            <a:r>
              <a:rPr sz="1800" b="0">
                <a:solidFill>
                  <a:srgbClr val="000000"/>
                </a:solidFill>
                <a:latin typeface="Times New Roman"/>
                <a:ea typeface="楷体"/>
                <a:cs typeface="楷体"/>
              </a:rPr>
              <a:t>问题：对所有患者、</a:t>
            </a:r>
          </a:p>
          <a:p>
            <a:pPr>
              <a:spcBef>
                <a:spcPts val="600"/>
              </a:spcBef>
            </a:pPr>
            <a:r>
              <a:rPr sz="1800" b="0">
                <a:solidFill>
                  <a:srgbClr val="000000"/>
                </a:solidFill>
                <a:latin typeface="Times New Roman"/>
                <a:ea typeface="楷体"/>
                <a:cs typeface="楷体"/>
              </a:rPr>
              <a:t>所有任务使用相同窗口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00000" y="1500000"/>
            <a:ext cx="5200000" cy="40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</a:pPr>
            <a:r>
              <a:rPr sz="1800" b="0">
                <a:solidFill>
                  <a:srgbClr val="0166A4"/>
                </a:solidFill>
                <a:latin typeface="Times New Roman"/>
                <a:ea typeface="楷体"/>
                <a:cs typeface="楷体"/>
              </a:rPr>
              <a:t>我们的方法：</a:t>
            </a:r>
          </a:p>
          <a:p>
            <a:pPr>
              <a:spcBef>
                <a:spcPts val="600"/>
              </a:spcBef>
            </a:pPr>
            <a:r>
              <a:rPr sz="1800" b="0">
                <a:solidFill>
                  <a:srgbClr val="0166A4"/>
                </a:solidFill>
                <a:latin typeface="Times New Roman"/>
                <a:ea typeface="楷体"/>
                <a:cs typeface="楷体"/>
              </a:rPr>
              <a:t>  σ_t = f(patient_state, task)</a:t>
            </a:r>
          </a:p>
          <a:p>
            <a:pPr>
              <a:spcBef>
                <a:spcPts val="600"/>
              </a:spcBef>
            </a:pPr>
            <a:r>
              <a:rPr sz="1800" b="0">
                <a:solidFill>
                  <a:srgbClr val="0166A4"/>
                </a:solidFill>
                <a:latin typeface="Times New Roman"/>
                <a:ea typeface="楷体"/>
                <a:cs typeface="楷体"/>
              </a:rPr>
              <a:t>  K(Δt) = exp(-Δt² / (2σ_t²))</a:t>
            </a:r>
          </a:p>
          <a:p>
            <a:pPr>
              <a:spcBef>
                <a:spcPts val="600"/>
              </a:spcBef>
            </a:pPr>
            <a:r>
              <a:rPr sz="1800" b="0">
                <a:solidFill>
                  <a:srgbClr val="0166A4"/>
                </a:solidFill>
                <a:latin typeface="Times New Roman"/>
                <a:ea typeface="楷体"/>
                <a:cs typeface="楷体"/>
              </a:rPr>
              <a:t/>
            </a:r>
          </a:p>
          <a:p>
            <a:pPr>
              <a:spcBef>
                <a:spcPts val="600"/>
              </a:spcBef>
            </a:pPr>
            <a:r>
              <a:rPr sz="1800" b="0">
                <a:solidFill>
                  <a:srgbClr val="0166A4"/>
                </a:solidFill>
                <a:latin typeface="Times New Roman"/>
                <a:ea typeface="楷体"/>
                <a:cs typeface="楷体"/>
              </a:rPr>
              <a:t>模型自己学习：</a:t>
            </a:r>
          </a:p>
          <a:p>
            <a:pPr>
              <a:spcBef>
                <a:spcPts val="600"/>
              </a:spcBef>
            </a:pPr>
            <a:r>
              <a:rPr sz="1800" b="0">
                <a:solidFill>
                  <a:srgbClr val="0166A4"/>
                </a:solidFill>
                <a:latin typeface="Times New Roman"/>
                <a:ea typeface="楷体"/>
                <a:cs typeface="楷体"/>
              </a:rPr>
              <a:t>"当前患者、当前任务</a:t>
            </a:r>
          </a:p>
          <a:p>
            <a:pPr>
              <a:spcBef>
                <a:spcPts val="600"/>
              </a:spcBef>
            </a:pPr>
            <a:r>
              <a:rPr sz="1800" b="0">
                <a:solidFill>
                  <a:srgbClr val="0166A4"/>
                </a:solidFill>
                <a:latin typeface="Times New Roman"/>
                <a:ea typeface="楷体"/>
                <a:cs typeface="楷体"/>
              </a:rPr>
              <a:t>我应该看多远"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00000" y="500000"/>
            <a:ext cx="11000000" cy="8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0166A4"/>
                </a:solidFill>
                <a:latin typeface="Times New Roman"/>
                <a:ea typeface="楷体"/>
                <a:cs typeface="楷体"/>
              </a:rPr>
              <a:t>三个研究问题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0000" y="1500000"/>
            <a:ext cx="11000000" cy="50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</a:pPr>
            <a:r>
              <a:rPr sz="1800" b="0">
                <a:solidFill>
                  <a:srgbClr val="000000"/>
                </a:solidFill>
                <a:latin typeface="Times New Roman"/>
                <a:ea typeface="楷体"/>
                <a:cs typeface="楷体"/>
              </a:rPr>
              <a:t>RQ1：固定时间粒度是否限制了 EHR 表征？</a:t>
            </a:r>
          </a:p>
          <a:p>
            <a:pPr>
              <a:spcBef>
                <a:spcPts val="600"/>
              </a:spcBef>
            </a:pPr>
            <a:r>
              <a:rPr sz="1800" b="0">
                <a:solidFill>
                  <a:srgbClr val="000000"/>
                </a:solidFill>
                <a:latin typeface="Times New Roman"/>
                <a:ea typeface="楷体"/>
                <a:cs typeface="楷体"/>
              </a:rPr>
              <a:t>     比较 1h / 3h / 5h / 12h / 24h -&gt; 不存在最优窗口</a:t>
            </a:r>
          </a:p>
          <a:p>
            <a:pPr>
              <a:spcBef>
                <a:spcPts val="600"/>
              </a:spcBef>
            </a:pPr>
            <a:r>
              <a:rPr sz="1800" b="0">
                <a:solidFill>
                  <a:srgbClr val="000000"/>
                </a:solidFill>
                <a:latin typeface="Times New Roman"/>
                <a:ea typeface="楷体"/>
                <a:cs typeface="楷体"/>
              </a:rPr>
              <a:t/>
            </a:r>
          </a:p>
          <a:p>
            <a:pPr>
              <a:spcBef>
                <a:spcPts val="600"/>
              </a:spcBef>
            </a:pPr>
            <a:r>
              <a:rPr sz="1800" b="0">
                <a:solidFill>
                  <a:srgbClr val="000000"/>
                </a:solidFill>
                <a:latin typeface="Times New Roman"/>
                <a:ea typeface="楷体"/>
                <a:cs typeface="楷体"/>
              </a:rPr>
              <a:t>RQ2：时间相关性是否依赖患者状态？</a:t>
            </a:r>
          </a:p>
          <a:p>
            <a:pPr>
              <a:spcBef>
                <a:spcPts val="600"/>
              </a:spcBef>
            </a:pPr>
            <a:r>
              <a:rPr sz="1800" b="0">
                <a:solidFill>
                  <a:srgbClr val="000000"/>
                </a:solidFill>
                <a:latin typeface="Times New Roman"/>
                <a:ea typeface="楷体"/>
                <a:cs typeface="楷体"/>
              </a:rPr>
              <a:t>     学到的 σ_t 与 SOFA 变化率、生命体征不稳定相关</a:t>
            </a:r>
          </a:p>
          <a:p>
            <a:pPr>
              <a:spcBef>
                <a:spcPts val="600"/>
              </a:spcBef>
            </a:pPr>
            <a:r>
              <a:rPr sz="1800" b="0">
                <a:solidFill>
                  <a:srgbClr val="000000"/>
                </a:solidFill>
                <a:latin typeface="Times New Roman"/>
                <a:ea typeface="楷体"/>
                <a:cs typeface="楷体"/>
              </a:rPr>
              <a:t>     病情越重 -&gt; σ_t 越小 -&gt; 关注近期事件</a:t>
            </a:r>
          </a:p>
          <a:p>
            <a:pPr>
              <a:spcBef>
                <a:spcPts val="600"/>
              </a:spcBef>
            </a:pPr>
            <a:r>
              <a:rPr sz="1800" b="0">
                <a:solidFill>
                  <a:srgbClr val="000000"/>
                </a:solidFill>
                <a:latin typeface="Times New Roman"/>
                <a:ea typeface="楷体"/>
                <a:cs typeface="楷体"/>
              </a:rPr>
              <a:t/>
            </a:r>
          </a:p>
          <a:p>
            <a:pPr>
              <a:spcBef>
                <a:spcPts val="600"/>
              </a:spcBef>
            </a:pPr>
            <a:r>
              <a:rPr sz="1800" b="0">
                <a:solidFill>
                  <a:srgbClr val="000000"/>
                </a:solidFill>
                <a:latin typeface="Times New Roman"/>
                <a:ea typeface="楷体"/>
                <a:cs typeface="楷体"/>
              </a:rPr>
              <a:t>RQ3：下游任务是否应该重塑时间表征？</a:t>
            </a:r>
          </a:p>
          <a:p>
            <a:pPr>
              <a:spcBef>
                <a:spcPts val="600"/>
              </a:spcBef>
            </a:pPr>
            <a:r>
              <a:rPr sz="1800" b="0">
                <a:solidFill>
                  <a:srgbClr val="000000"/>
                </a:solidFill>
                <a:latin typeface="Times New Roman"/>
                <a:ea typeface="楷体"/>
                <a:cs typeface="楷体"/>
              </a:rPr>
              <a:t>     死亡风险：急性恶化 + 长期累积</a:t>
            </a:r>
          </a:p>
          <a:p>
            <a:pPr>
              <a:spcBef>
                <a:spcPts val="600"/>
              </a:spcBef>
            </a:pPr>
            <a:r>
              <a:rPr sz="1800" b="0">
                <a:solidFill>
                  <a:srgbClr val="000000"/>
                </a:solidFill>
                <a:latin typeface="Times New Roman"/>
                <a:ea typeface="楷体"/>
                <a:cs typeface="楷体"/>
              </a:rPr>
              <a:t>     急性恶化：近期快速动态</a:t>
            </a:r>
          </a:p>
          <a:p>
            <a:pPr>
              <a:spcBef>
                <a:spcPts val="600"/>
              </a:spcBef>
            </a:pPr>
            <a:r>
              <a:rPr sz="1800" b="0">
                <a:solidFill>
                  <a:srgbClr val="000000"/>
                </a:solidFill>
                <a:latin typeface="Times New Roman"/>
                <a:ea typeface="楷体"/>
                <a:cs typeface="楷体"/>
              </a:rPr>
              <a:t>     表型分类：长期疾病轨迹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00000" y="500000"/>
            <a:ext cx="11000000" cy="8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0166A4"/>
                </a:solidFill>
                <a:latin typeface="Times New Roman"/>
                <a:ea typeface="楷体"/>
                <a:cs typeface="楷体"/>
              </a:rPr>
              <a:t>三篇核心论文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0000" y="1500000"/>
            <a:ext cx="11000000" cy="50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800"/>
              </a:spcBef>
            </a:pPr>
            <a:r>
              <a:rPr sz="1800" b="0">
                <a:solidFill>
                  <a:srgbClr val="000000"/>
                </a:solidFill>
                <a:latin typeface="Times New Roman"/>
                <a:ea typeface="楷体"/>
                <a:cs typeface="楷体"/>
              </a:rPr>
              <a:t>论文一：Large Language Models as Unified Multimodal Learners</a:t>
            </a:r>
          </a:p>
          <a:p>
            <a:pPr>
              <a:spcBef>
                <a:spcPts val="800"/>
              </a:spcBef>
            </a:pPr>
            <a:r>
              <a:rPr sz="1800" b="0">
                <a:solidFill>
                  <a:srgbClr val="000000"/>
                </a:solidFill>
                <a:latin typeface="Times New Roman"/>
                <a:ea typeface="楷体"/>
                <a:cs typeface="楷体"/>
              </a:rPr>
              <a:t>       LLM + EHR 序列化（我们要改进的 naive baseline）</a:t>
            </a:r>
          </a:p>
          <a:p>
            <a:pPr>
              <a:spcBef>
                <a:spcPts val="800"/>
              </a:spcBef>
            </a:pPr>
            <a:r>
              <a:rPr sz="1800" b="0">
                <a:solidFill>
                  <a:srgbClr val="000000"/>
                </a:solidFill>
                <a:latin typeface="Times New Roman"/>
                <a:ea typeface="楷体"/>
                <a:cs typeface="楷体"/>
              </a:rPr>
              <a:t/>
            </a:r>
          </a:p>
          <a:p>
            <a:pPr>
              <a:spcBef>
                <a:spcPts val="800"/>
              </a:spcBef>
            </a:pPr>
            <a:r>
              <a:rPr sz="1800" b="0">
                <a:solidFill>
                  <a:srgbClr val="000000"/>
                </a:solidFill>
                <a:latin typeface="Times New Roman"/>
                <a:ea typeface="楷体"/>
                <a:cs typeface="楷体"/>
              </a:rPr>
              <a:t>论文二：Computable Longitudinal Patient Journeys (Nature Medicine)</a:t>
            </a:r>
          </a:p>
          <a:p>
            <a:pPr>
              <a:spcBef>
                <a:spcPts val="800"/>
              </a:spcBef>
            </a:pPr>
            <a:r>
              <a:rPr sz="1800" b="0">
                <a:solidFill>
                  <a:srgbClr val="000000"/>
                </a:solidFill>
                <a:latin typeface="Times New Roman"/>
                <a:ea typeface="楷体"/>
                <a:cs typeface="楷体"/>
              </a:rPr>
              <a:t>       变更追踪 + 知识图谱 + 时间到事件分析</a:t>
            </a:r>
          </a:p>
          <a:p>
            <a:pPr>
              <a:spcBef>
                <a:spcPts val="800"/>
              </a:spcBef>
            </a:pPr>
            <a:r>
              <a:rPr sz="1800" b="0">
                <a:solidFill>
                  <a:srgbClr val="000000"/>
                </a:solidFill>
                <a:latin typeface="Times New Roman"/>
                <a:ea typeface="楷体"/>
                <a:cs typeface="楷体"/>
              </a:rPr>
              <a:t/>
            </a:r>
          </a:p>
          <a:p>
            <a:pPr>
              <a:spcBef>
                <a:spcPts val="800"/>
              </a:spcBef>
            </a:pPr>
            <a:r>
              <a:rPr sz="1800" b="0">
                <a:solidFill>
                  <a:srgbClr val="000000"/>
                </a:solidFill>
                <a:latin typeface="Times New Roman"/>
                <a:ea typeface="楷体"/>
                <a:cs typeface="楷体"/>
              </a:rPr>
              <a:t>论文三：GDP - A Multimodal Generative Model for EHR</a:t>
            </a:r>
          </a:p>
          <a:p>
            <a:pPr>
              <a:spcBef>
                <a:spcPts val="800"/>
              </a:spcBef>
            </a:pPr>
            <a:r>
              <a:rPr sz="1800" b="0">
                <a:solidFill>
                  <a:srgbClr val="000000"/>
                </a:solidFill>
                <a:latin typeface="Times New Roman"/>
                <a:ea typeface="楷体"/>
                <a:cs typeface="楷体"/>
              </a:rPr>
              <a:t>       下一时间步预测 + 跨模态注意力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166A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00000" y="500000"/>
            <a:ext cx="11000000" cy="8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Times New Roman"/>
                <a:ea typeface="楷体"/>
                <a:cs typeface="楷体"/>
              </a:rPr>
              <a:t>论文一：统一多模态学习器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0000" y="1500000"/>
            <a:ext cx="11000000" cy="50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</a:pPr>
            <a:r>
              <a:rPr sz="1800" b="0">
                <a:solidFill>
                  <a:srgbClr val="FFFFFF"/>
                </a:solidFill>
                <a:latin typeface="Times New Roman"/>
                <a:ea typeface="楷体"/>
                <a:cs typeface="楷体"/>
              </a:rPr>
              <a:t>核心思路：把所有临床数据序列化为文本，直接喂给 LLM</a:t>
            </a:r>
          </a:p>
          <a:p>
            <a:pPr>
              <a:spcBef>
                <a:spcPts val="600"/>
              </a:spcBef>
            </a:pPr>
            <a:r>
              <a:rPr sz="1800" b="0">
                <a:solidFill>
                  <a:srgbClr val="FFFFFF"/>
                </a:solidFill>
                <a:latin typeface="Times New Roman"/>
                <a:ea typeface="楷体"/>
                <a:cs typeface="楷体"/>
              </a:rPr>
              <a:t/>
            </a:r>
          </a:p>
          <a:p>
            <a:pPr>
              <a:spcBef>
                <a:spcPts val="600"/>
              </a:spcBef>
            </a:pPr>
            <a:r>
              <a:rPr sz="1800" b="0">
                <a:solidFill>
                  <a:srgbClr val="FFFFFF"/>
                </a:solidFill>
                <a:latin typeface="Times New Roman"/>
                <a:ea typeface="楷体"/>
                <a:cs typeface="楷体"/>
              </a:rPr>
              <a:t>非时序数据：Age: 67, Sex: Male, HR: 92 bpm ...</a:t>
            </a:r>
          </a:p>
          <a:p>
            <a:pPr>
              <a:spcBef>
                <a:spcPts val="600"/>
              </a:spcBef>
            </a:pPr>
            <a:r>
              <a:rPr sz="1800" b="0">
                <a:solidFill>
                  <a:srgbClr val="FFFFFF"/>
                </a:solidFill>
                <a:latin typeface="Times New Roman"/>
                <a:ea typeface="楷体"/>
                <a:cs typeface="楷体"/>
              </a:rPr>
              <a:t>时序数据：  Heart Rate: 76.09, 78.75, 76.88, 69.75 ...</a:t>
            </a:r>
          </a:p>
          <a:p>
            <a:pPr>
              <a:spcBef>
                <a:spcPts val="600"/>
              </a:spcBef>
            </a:pPr>
            <a:r>
              <a:rPr sz="1800" b="0">
                <a:solidFill>
                  <a:srgbClr val="FFFFFF"/>
                </a:solidFill>
                <a:latin typeface="Times New Roman"/>
                <a:ea typeface="楷体"/>
                <a:cs typeface="楷体"/>
              </a:rPr>
              <a:t/>
            </a:r>
          </a:p>
          <a:p>
            <a:pPr>
              <a:spcBef>
                <a:spcPts val="600"/>
              </a:spcBef>
            </a:pPr>
            <a:r>
              <a:rPr sz="1800" b="0">
                <a:solidFill>
                  <a:srgbClr val="FFFFFF"/>
                </a:solidFill>
                <a:latin typeface="Times New Roman"/>
                <a:ea typeface="楷体"/>
                <a:cs typeface="楷体"/>
              </a:rPr>
              <a:t>编码器：ModernBERT（8192 token 上下文窗口）</a:t>
            </a:r>
          </a:p>
          <a:p>
            <a:pPr>
              <a:spcBef>
                <a:spcPts val="600"/>
              </a:spcBef>
            </a:pPr>
            <a:r>
              <a:rPr sz="1800" b="0">
                <a:solidFill>
                  <a:srgbClr val="FFFFFF"/>
                </a:solidFill>
                <a:latin typeface="Times New Roman"/>
                <a:ea typeface="楷体"/>
                <a:cs typeface="楷体"/>
              </a:rPr>
              <a:t>解码器：Llama 3.1、Gemma 2B、DeepSeek-R1</a:t>
            </a:r>
          </a:p>
          <a:p>
            <a:pPr>
              <a:spcBef>
                <a:spcPts val="600"/>
              </a:spcBef>
            </a:pPr>
            <a:r>
              <a:rPr sz="1800" b="0">
                <a:solidFill>
                  <a:srgbClr val="FFFFFF"/>
                </a:solidFill>
                <a:latin typeface="Times New Roman"/>
                <a:ea typeface="楷体"/>
                <a:cs typeface="楷体"/>
              </a:rPr>
              <a:t/>
            </a:r>
          </a:p>
          <a:p>
            <a:pPr>
              <a:spcBef>
                <a:spcPts val="600"/>
              </a:spcBef>
            </a:pPr>
            <a:r>
              <a:rPr sz="1800" b="0">
                <a:solidFill>
                  <a:srgbClr val="FFFFFF"/>
                </a:solidFill>
                <a:latin typeface="Times New Roman"/>
                <a:ea typeface="楷体"/>
                <a:cs typeface="楷体"/>
              </a:rPr>
              <a:t>结果：多模态一致优于单模态（MIMIC-III AUROC 0.93）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00000" y="300000"/>
            <a:ext cx="11000000" cy="6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166A4"/>
                </a:solidFill>
                <a:latin typeface="Times New Roman"/>
                <a:ea typeface="楷体"/>
                <a:cs typeface="楷体"/>
              </a:rPr>
              <a:t>论文一：序列化输入示例</a:t>
            </a:r>
          </a:p>
        </p:txBody>
      </p:sp>
      <p:pic>
        <p:nvPicPr>
          <p:cNvPr id="5" name="Picture 4" descr="04_unified_page4_fig1_serialized_invaria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000" y="1000000"/>
            <a:ext cx="4800000" cy="3054897"/>
          </a:xfrm>
          <a:prstGeom prst="rect">
            <a:avLst/>
          </a:prstGeom>
        </p:spPr>
      </p:pic>
      <p:pic>
        <p:nvPicPr>
          <p:cNvPr id="6" name="Picture 5" descr="04_unified_page5_fig2_serialized_varia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0000" y="1000000"/>
            <a:ext cx="4800000" cy="305489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00000" y="300000"/>
            <a:ext cx="11000000" cy="6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166A4"/>
                </a:solidFill>
                <a:latin typeface="Times New Roman"/>
                <a:ea typeface="楷体"/>
                <a:cs typeface="楷体"/>
              </a:rPr>
              <a:t>论文一：结果与局限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0000" y="4500000"/>
            <a:ext cx="11000000" cy="20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</a:pPr>
            <a:r>
              <a:rPr sz="1800" b="0">
                <a:solidFill>
                  <a:srgbClr val="000000"/>
                </a:solidFill>
                <a:latin typeface="Times New Roman"/>
                <a:ea typeface="楷体"/>
                <a:cs typeface="楷体"/>
              </a:rPr>
              <a:t>关键局限：逗号分隔的值丢失了时间顺序信息</a:t>
            </a:r>
          </a:p>
          <a:p>
            <a:pPr>
              <a:spcBef>
                <a:spcPts val="600"/>
              </a:spcBef>
            </a:pPr>
            <a:r>
              <a:rPr sz="1800" b="0">
                <a:solidFill>
                  <a:srgbClr val="000000"/>
                </a:solidFill>
                <a:latin typeface="Times New Roman"/>
                <a:ea typeface="楷体"/>
                <a:cs typeface="楷体"/>
              </a:rPr>
              <a:t>没有自适应机制——对所有患者使用相同注意力模式</a:t>
            </a:r>
          </a:p>
          <a:p>
            <a:pPr>
              <a:spcBef>
                <a:spcPts val="600"/>
              </a:spcBef>
            </a:pPr>
            <a:r>
              <a:rPr sz="1800" b="0">
                <a:solidFill>
                  <a:srgbClr val="000000"/>
                </a:solidFill>
                <a:latin typeface="Times New Roman"/>
                <a:ea typeface="楷体"/>
                <a:cs typeface="楷体"/>
              </a:rPr>
              <a:t>长病历+多日生命体征容易超出上下文窗口限制</a:t>
            </a:r>
          </a:p>
          <a:p>
            <a:pPr>
              <a:spcBef>
                <a:spcPts val="600"/>
              </a:spcBef>
            </a:pPr>
            <a:r>
              <a:rPr sz="1800" b="0">
                <a:solidFill>
                  <a:srgbClr val="000000"/>
                </a:solidFill>
                <a:latin typeface="Times New Roman"/>
                <a:ea typeface="楷体"/>
                <a:cs typeface="楷体"/>
              </a:rPr>
              <a:t/>
            </a:r>
          </a:p>
          <a:p>
            <a:pPr>
              <a:spcBef>
                <a:spcPts val="600"/>
              </a:spcBef>
            </a:pPr>
            <a:r>
              <a:rPr sz="1800" b="0">
                <a:solidFill>
                  <a:srgbClr val="000000"/>
                </a:solidFill>
                <a:latin typeface="Times New Roman"/>
                <a:ea typeface="楷体"/>
                <a:cs typeface="楷体"/>
              </a:rPr>
              <a:t>-&gt; 这正是我们要用 ATSL 解决的问题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166A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00000" y="500000"/>
            <a:ext cx="11000000" cy="8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Times New Roman"/>
                <a:ea typeface="楷体"/>
                <a:cs typeface="楷体"/>
              </a:rPr>
              <a:t>论文二：可计算的纵向患者旅程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0000" y="1500000"/>
            <a:ext cx="11000000" cy="50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</a:pPr>
            <a:r>
              <a:rPr sz="1800" b="0">
                <a:solidFill>
                  <a:srgbClr val="FFFFFF"/>
                </a:solidFill>
                <a:latin typeface="Times New Roman"/>
                <a:ea typeface="楷体"/>
                <a:cs typeface="楷体"/>
              </a:rPr>
              <a:t>Nature Medicine 2026 | 3512 万患者 -&gt; 253 万活跃成人</a:t>
            </a:r>
          </a:p>
          <a:p>
            <a:pPr>
              <a:spcBef>
                <a:spcPts val="600"/>
              </a:spcBef>
            </a:pPr>
            <a:r>
              <a:rPr sz="1800" b="0">
                <a:solidFill>
                  <a:srgbClr val="FFFFFF"/>
                </a:solidFill>
                <a:latin typeface="Times New Roman"/>
                <a:ea typeface="楷体"/>
                <a:cs typeface="楷体"/>
              </a:rPr>
              <a:t/>
            </a:r>
          </a:p>
          <a:p>
            <a:pPr>
              <a:spcBef>
                <a:spcPts val="600"/>
              </a:spcBef>
            </a:pPr>
            <a:r>
              <a:rPr sz="1800" b="0">
                <a:solidFill>
                  <a:srgbClr val="FFFFFF"/>
                </a:solidFill>
                <a:latin typeface="Times New Roman"/>
                <a:ea typeface="楷体"/>
                <a:cs typeface="楷体"/>
              </a:rPr>
              <a:t>第一步：用 LLM 从非结构化文本中提取临床实体</a:t>
            </a:r>
          </a:p>
          <a:p>
            <a:pPr>
              <a:spcBef>
                <a:spcPts val="600"/>
              </a:spcBef>
            </a:pPr>
            <a:r>
              <a:rPr sz="1800" b="0">
                <a:solidFill>
                  <a:srgbClr val="FFFFFF"/>
                </a:solidFill>
                <a:latin typeface="Times New Roman"/>
                <a:ea typeface="楷体"/>
                <a:cs typeface="楷体"/>
              </a:rPr>
              <a:t>   变更追踪：added / modified / removed</a:t>
            </a:r>
          </a:p>
          <a:p>
            <a:pPr>
              <a:spcBef>
                <a:spcPts val="600"/>
              </a:spcBef>
            </a:pPr>
            <a:r>
              <a:rPr sz="1800" b="0">
                <a:solidFill>
                  <a:srgbClr val="FFFFFF"/>
                </a:solidFill>
                <a:latin typeface="Times New Roman"/>
                <a:ea typeface="楷体"/>
                <a:cs typeface="楷体"/>
              </a:rPr>
              <a:t>   对医生参考标准验证 F1 = 99.4%</a:t>
            </a:r>
          </a:p>
          <a:p>
            <a:pPr>
              <a:spcBef>
                <a:spcPts val="600"/>
              </a:spcBef>
            </a:pPr>
            <a:r>
              <a:rPr sz="1800" b="0">
                <a:solidFill>
                  <a:srgbClr val="FFFFFF"/>
                </a:solidFill>
                <a:latin typeface="Times New Roman"/>
                <a:ea typeface="楷体"/>
                <a:cs typeface="楷体"/>
              </a:rPr>
              <a:t/>
            </a:r>
          </a:p>
          <a:p>
            <a:pPr>
              <a:spcBef>
                <a:spcPts val="600"/>
              </a:spcBef>
            </a:pPr>
            <a:r>
              <a:rPr sz="1800" b="0">
                <a:solidFill>
                  <a:srgbClr val="FFFFFF"/>
                </a:solidFill>
                <a:latin typeface="Times New Roman"/>
                <a:ea typeface="楷体"/>
                <a:cs typeface="楷体"/>
              </a:rPr>
              <a:t>第二步：构建知识图谱</a:t>
            </a:r>
          </a:p>
          <a:p>
            <a:pPr>
              <a:spcBef>
                <a:spcPts val="600"/>
              </a:spcBef>
            </a:pPr>
            <a:r>
              <a:rPr sz="1800" b="0">
                <a:solidFill>
                  <a:srgbClr val="FFFFFF"/>
                </a:solidFill>
                <a:latin typeface="Times New Roman"/>
                <a:ea typeface="楷体"/>
                <a:cs typeface="楷体"/>
              </a:rPr>
              <a:t>   8800 万节点、2.41 亿边，映射到 UMLS/HPO/RxNorm</a:t>
            </a:r>
          </a:p>
          <a:p>
            <a:pPr>
              <a:spcBef>
                <a:spcPts val="600"/>
              </a:spcBef>
            </a:pPr>
            <a:r>
              <a:rPr sz="1800" b="0">
                <a:solidFill>
                  <a:srgbClr val="FFFFFF"/>
                </a:solidFill>
                <a:latin typeface="Times New Roman"/>
                <a:ea typeface="楷体"/>
                <a:cs typeface="楷体"/>
              </a:rPr>
              <a:t/>
            </a:r>
          </a:p>
          <a:p>
            <a:pPr>
              <a:spcBef>
                <a:spcPts val="600"/>
              </a:spcBef>
            </a:pPr>
            <a:r>
              <a:rPr sz="1800" b="0">
                <a:solidFill>
                  <a:srgbClr val="FFFFFF"/>
                </a:solidFill>
                <a:latin typeface="Times New Roman"/>
                <a:ea typeface="楷体"/>
                <a:cs typeface="楷体"/>
              </a:rPr>
              <a:t>第三步：纵向分析（GLP-1 RA 药物为例）</a:t>
            </a:r>
          </a:p>
          <a:p>
            <a:pPr>
              <a:spcBef>
                <a:spcPts val="600"/>
              </a:spcBef>
            </a:pPr>
            <a:r>
              <a:rPr sz="1800" b="0">
                <a:solidFill>
                  <a:srgbClr val="FFFFFF"/>
                </a:solidFill>
                <a:latin typeface="Times New Roman"/>
                <a:ea typeface="楷体"/>
                <a:cs typeface="楷体"/>
              </a:rPr>
              <a:t>   超越固定时间点终点的时间到事件分析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00000" y="300000"/>
            <a:ext cx="11000000" cy="6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166A4"/>
                </a:solidFill>
                <a:latin typeface="Times New Roman"/>
                <a:ea typeface="楷体"/>
                <a:cs typeface="楷体"/>
              </a:rPr>
              <a:t>论文二：知识图谱与变更追踪</a:t>
            </a:r>
          </a:p>
        </p:txBody>
      </p:sp>
      <p:pic>
        <p:nvPicPr>
          <p:cNvPr id="5" name="Picture 4" descr="14_concept_discovery_k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000" y="1000000"/>
            <a:ext cx="10000000" cy="730350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0000" y="4500000"/>
            <a:ext cx="11000000" cy="20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</a:pPr>
            <a:r>
              <a:rPr sz="1800" b="0">
                <a:solidFill>
                  <a:srgbClr val="000000"/>
                </a:solidFill>
                <a:latin typeface="Times New Roman"/>
                <a:ea typeface="楷体"/>
                <a:cs typeface="楷体"/>
              </a:rPr>
              <a:t>变更追踪 = 时间语义转换检测</a:t>
            </a:r>
          </a:p>
          <a:p>
            <a:pPr>
              <a:spcBef>
                <a:spcPts val="600"/>
              </a:spcBef>
            </a:pPr>
            <a:r>
              <a:rPr sz="1800" b="0">
                <a:solidFill>
                  <a:srgbClr val="000000"/>
                </a:solidFill>
                <a:latin typeface="Times New Roman"/>
                <a:ea typeface="楷体"/>
                <a:cs typeface="楷体"/>
              </a:rPr>
              <a:t>知识图谱可作为 ATSL 的结构化知识基底</a:t>
            </a:r>
          </a:p>
          <a:p>
            <a:pPr>
              <a:spcBef>
                <a:spcPts val="600"/>
              </a:spcBef>
            </a:pPr>
            <a:r>
              <a:rPr sz="1800" b="0">
                <a:solidFill>
                  <a:srgbClr val="000000"/>
                </a:solidFill>
                <a:latin typeface="Times New Roman"/>
                <a:ea typeface="楷体"/>
                <a:cs typeface="楷体"/>
              </a:rPr>
              <a:t>时间到事件分析与自适应窗口概念一致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166A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00000" y="500000"/>
            <a:ext cx="11000000" cy="8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Times New Roman"/>
                <a:ea typeface="楷体"/>
                <a:cs typeface="楷体"/>
              </a:rPr>
              <a:t>论文三：生成式深度患者模型（GDP）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0000" y="1500000"/>
            <a:ext cx="11000000" cy="50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</a:pPr>
            <a:r>
              <a:rPr sz="1800" b="0">
                <a:solidFill>
                  <a:srgbClr val="FFFFFF"/>
                </a:solidFill>
                <a:latin typeface="Times New Roman"/>
                <a:ea typeface="楷体"/>
                <a:cs typeface="楷体"/>
              </a:rPr>
              <a:t>统一模型：同时支持分类预测和出院小结生成</a:t>
            </a:r>
          </a:p>
          <a:p>
            <a:pPr>
              <a:spcBef>
                <a:spcPts val="600"/>
              </a:spcBef>
            </a:pPr>
            <a:r>
              <a:rPr sz="1800" b="0">
                <a:solidFill>
                  <a:srgbClr val="FFFFFF"/>
                </a:solidFill>
                <a:latin typeface="Times New Roman"/>
                <a:ea typeface="楷体"/>
                <a:cs typeface="楷体"/>
              </a:rPr>
              <a:t/>
            </a:r>
          </a:p>
          <a:p>
            <a:pPr>
              <a:spcBef>
                <a:spcPts val="600"/>
              </a:spcBef>
            </a:pPr>
            <a:r>
              <a:rPr sz="1800" b="0">
                <a:solidFill>
                  <a:srgbClr val="FFFFFF"/>
                </a:solidFill>
                <a:latin typeface="Times New Roman"/>
                <a:ea typeface="楷体"/>
                <a:cs typeface="楷体"/>
              </a:rPr>
              <a:t>结构化 EHR -&gt; CNN-Transformer 编码器</a:t>
            </a:r>
          </a:p>
          <a:p>
            <a:pPr>
              <a:spcBef>
                <a:spcPts val="600"/>
              </a:spcBef>
            </a:pPr>
            <a:r>
              <a:rPr sz="1800" b="0">
                <a:solidFill>
                  <a:srgbClr val="FFFFFF"/>
                </a:solidFill>
                <a:latin typeface="Times New Roman"/>
                <a:ea typeface="楷体"/>
                <a:cs typeface="楷体"/>
              </a:rPr>
              <a:t>临床文本 -&gt; BERT 编码器</a:t>
            </a:r>
          </a:p>
          <a:p>
            <a:pPr>
              <a:spcBef>
                <a:spcPts val="600"/>
              </a:spcBef>
            </a:pPr>
            <a:r>
              <a:rPr sz="1800" b="0">
                <a:solidFill>
                  <a:srgbClr val="FFFFFF"/>
                </a:solidFill>
                <a:latin typeface="Times New Roman"/>
                <a:ea typeface="楷体"/>
                <a:cs typeface="楷体"/>
              </a:rPr>
              <a:t>LLaMA 解码器 + 跨模态注意力</a:t>
            </a:r>
          </a:p>
          <a:p>
            <a:pPr>
              <a:spcBef>
                <a:spcPts val="600"/>
              </a:spcBef>
            </a:pPr>
            <a:r>
              <a:rPr sz="1800" b="0">
                <a:solidFill>
                  <a:srgbClr val="FFFFFF"/>
                </a:solidFill>
                <a:latin typeface="Times New Roman"/>
                <a:ea typeface="楷体"/>
                <a:cs typeface="楷体"/>
              </a:rPr>
              <a:t/>
            </a:r>
          </a:p>
          <a:p>
            <a:pPr>
              <a:spcBef>
                <a:spcPts val="600"/>
              </a:spcBef>
            </a:pPr>
            <a:r>
              <a:rPr sz="1800" b="0">
                <a:solidFill>
                  <a:srgbClr val="FFFFFF"/>
                </a:solidFill>
                <a:latin typeface="Times New Roman"/>
                <a:ea typeface="楷体"/>
                <a:cs typeface="楷体"/>
              </a:rPr>
              <a:t>预训练目标：</a:t>
            </a:r>
          </a:p>
          <a:p>
            <a:pPr>
              <a:spcBef>
                <a:spcPts val="600"/>
              </a:spcBef>
            </a:pPr>
            <a:r>
              <a:rPr sz="1800" b="0">
                <a:solidFill>
                  <a:srgbClr val="FFFFFF"/>
                </a:solidFill>
                <a:latin typeface="Times New Roman"/>
                <a:ea typeface="楷体"/>
                <a:cs typeface="楷体"/>
              </a:rPr>
              <a:t>  1. 掩盖特征预测（MFP）</a:t>
            </a:r>
          </a:p>
          <a:p>
            <a:pPr>
              <a:spcBef>
                <a:spcPts val="600"/>
              </a:spcBef>
            </a:pPr>
            <a:r>
              <a:rPr sz="1800" b="0">
                <a:solidFill>
                  <a:srgbClr val="FFFFFF"/>
                </a:solidFill>
                <a:latin typeface="Times New Roman"/>
                <a:ea typeface="楷体"/>
                <a:cs typeface="楷体"/>
              </a:rPr>
              <a:t>  2. 下一时间步预测（NTP）&lt;- 时间语义！</a:t>
            </a:r>
          </a:p>
          <a:p>
            <a:pPr>
              <a:spcBef>
                <a:spcPts val="600"/>
              </a:spcBef>
            </a:pPr>
            <a:r>
              <a:rPr sz="1800" b="0">
                <a:solidFill>
                  <a:srgbClr val="FFFFFF"/>
                </a:solidFill>
                <a:latin typeface="Times New Roman"/>
                <a:ea typeface="楷体"/>
                <a:cs typeface="楷体"/>
              </a:rPr>
              <a:t>  3. 生成式预训练（出院小结）</a:t>
            </a:r>
          </a:p>
          <a:p>
            <a:pPr>
              <a:spcBef>
                <a:spcPts val="600"/>
              </a:spcBef>
            </a:pPr>
            <a:r>
              <a:rPr sz="1800" b="0">
                <a:solidFill>
                  <a:srgbClr val="FFFFFF"/>
                </a:solidFill>
                <a:latin typeface="Times New Roman"/>
                <a:ea typeface="楷体"/>
                <a:cs typeface="楷体"/>
              </a:rPr>
              <a:t/>
            </a:r>
          </a:p>
          <a:p>
            <a:pPr>
              <a:spcBef>
                <a:spcPts val="600"/>
              </a:spcBef>
            </a:pPr>
            <a:r>
              <a:rPr sz="1800" b="0">
                <a:solidFill>
                  <a:srgbClr val="FFFFFF"/>
                </a:solidFill>
                <a:latin typeface="Times New Roman"/>
                <a:ea typeface="楷体"/>
                <a:cs typeface="楷体"/>
              </a:rPr>
              <a:t>结果：心衰 AUROC 0.923（vs 基线 0.779）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00000" y="300000"/>
            <a:ext cx="11000000" cy="6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166A4"/>
                </a:solidFill>
                <a:latin typeface="Times New Roman"/>
                <a:ea typeface="楷体"/>
                <a:cs typeface="楷体"/>
              </a:rPr>
              <a:t>论文三：架构与结果</a:t>
            </a:r>
          </a:p>
        </p:txBody>
      </p:sp>
      <p:pic>
        <p:nvPicPr>
          <p:cNvPr id="5" name="Picture 4" descr="03_gdp_page3_fig1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000" y="1000000"/>
            <a:ext cx="10000000" cy="664248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0000" y="5000000"/>
            <a:ext cx="11000000" cy="1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</a:pPr>
            <a:r>
              <a:rPr sz="1800" b="0">
                <a:solidFill>
                  <a:srgbClr val="000000"/>
                </a:solidFill>
                <a:latin typeface="Times New Roman"/>
                <a:ea typeface="楷体"/>
                <a:cs typeface="楷体"/>
              </a:rPr>
              <a:t>NTP = 时间语义学习（但固定粒度）</a:t>
            </a:r>
          </a:p>
          <a:p>
            <a:pPr>
              <a:spcBef>
                <a:spcPts val="600"/>
              </a:spcBef>
            </a:pPr>
            <a:r>
              <a:rPr sz="1800" b="0">
                <a:solidFill>
                  <a:srgbClr val="000000"/>
                </a:solidFill>
                <a:latin typeface="Times New Roman"/>
                <a:ea typeface="楷体"/>
                <a:cs typeface="楷体"/>
              </a:rPr>
              <a:t>需要任务条件化的表征</a:t>
            </a:r>
          </a:p>
          <a:p>
            <a:pPr>
              <a:spcBef>
                <a:spcPts val="600"/>
              </a:spcBef>
            </a:pPr>
            <a:r>
              <a:rPr sz="1800" b="0">
                <a:solidFill>
                  <a:srgbClr val="000000"/>
                </a:solidFill>
                <a:latin typeface="Times New Roman"/>
                <a:ea typeface="楷体"/>
                <a:cs typeface="楷体"/>
              </a:rPr>
              <a:t>ATSL 可将 NTP 升级为自适应时间语义预测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00000" y="500000"/>
            <a:ext cx="11000000" cy="8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0166A4"/>
                </a:solidFill>
                <a:latin typeface="Times New Roman"/>
                <a:ea typeface="楷体"/>
                <a:cs typeface="楷体"/>
              </a:rPr>
              <a:t>与 ATSL 的关联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0000" y="1500000"/>
            <a:ext cx="5200000" cy="2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</a:pPr>
            <a:r>
              <a:rPr sz="1600" b="0">
                <a:solidFill>
                  <a:srgbClr val="0166A4"/>
                </a:solidFill>
                <a:latin typeface="Times New Roman"/>
                <a:ea typeface="楷体"/>
                <a:cs typeface="楷体"/>
              </a:rPr>
              <a:t>它们做对了什么</a:t>
            </a:r>
          </a:p>
          <a:p>
            <a:pPr>
              <a:spcBef>
                <a:spcPts val="600"/>
              </a:spcBef>
            </a:pPr>
            <a:r>
              <a:rPr sz="1600" b="0">
                <a:solidFill>
                  <a:srgbClr val="0166A4"/>
                </a:solidFill>
                <a:latin typeface="Times New Roman"/>
                <a:ea typeface="楷体"/>
                <a:cs typeface="楷体"/>
              </a:rPr>
              <a:t/>
            </a:r>
          </a:p>
          <a:p>
            <a:pPr>
              <a:spcBef>
                <a:spcPts val="600"/>
              </a:spcBef>
            </a:pPr>
            <a:r>
              <a:rPr sz="1600" b="0">
                <a:solidFill>
                  <a:srgbClr val="0166A4"/>
                </a:solidFill>
                <a:latin typeface="Times New Roman"/>
                <a:ea typeface="楷体"/>
                <a:cs typeface="楷体"/>
              </a:rPr>
              <a:t>论文一：LLM 能整合多模态临床数据</a:t>
            </a:r>
          </a:p>
          <a:p>
            <a:pPr>
              <a:spcBef>
                <a:spcPts val="600"/>
              </a:spcBef>
            </a:pPr>
            <a:r>
              <a:rPr sz="1600" b="0">
                <a:solidFill>
                  <a:srgbClr val="0166A4"/>
                </a:solidFill>
                <a:latin typeface="Times New Roman"/>
                <a:ea typeface="楷体"/>
                <a:cs typeface="楷体"/>
              </a:rPr>
              <a:t>论文二：纵向变更追踪捕获状态转换</a:t>
            </a:r>
          </a:p>
          <a:p>
            <a:pPr>
              <a:spcBef>
                <a:spcPts val="600"/>
              </a:spcBef>
            </a:pPr>
            <a:r>
              <a:rPr sz="1600" b="0">
                <a:solidFill>
                  <a:srgbClr val="0166A4"/>
                </a:solidFill>
                <a:latin typeface="Times New Roman"/>
                <a:ea typeface="楷体"/>
                <a:cs typeface="楷体"/>
              </a:rPr>
              <a:t>论文三：NTP 有效学到时间结构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00000" y="1500000"/>
            <a:ext cx="5200000" cy="2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</a:pPr>
            <a:r>
              <a:rPr sz="1600" b="0">
                <a:solidFill>
                  <a:srgbClr val="000000"/>
                </a:solidFill>
                <a:latin typeface="Times New Roman"/>
                <a:ea typeface="楷体"/>
                <a:cs typeface="楷体"/>
              </a:rPr>
              <a:t>它们缺了什么</a:t>
            </a:r>
          </a:p>
          <a:p>
            <a:pPr>
              <a:spcBef>
                <a:spcPts val="600"/>
              </a:spcBef>
            </a:pPr>
            <a:r>
              <a:rPr sz="1600" b="0">
                <a:solidFill>
                  <a:srgbClr val="000000"/>
                </a:solidFill>
                <a:latin typeface="Times New Roman"/>
                <a:ea typeface="楷体"/>
                <a:cs typeface="楷体"/>
              </a:rPr>
              <a:t/>
            </a:r>
          </a:p>
          <a:p>
            <a:pPr>
              <a:spcBef>
                <a:spcPts val="600"/>
              </a:spcBef>
            </a:pPr>
            <a:r>
              <a:rPr sz="1600" b="0">
                <a:solidFill>
                  <a:srgbClr val="000000"/>
                </a:solidFill>
                <a:latin typeface="Times New Roman"/>
                <a:ea typeface="楷体"/>
                <a:cs typeface="楷体"/>
              </a:rPr>
              <a:t>论文一：没有显式时间建模和自适应</a:t>
            </a:r>
          </a:p>
          <a:p>
            <a:pPr>
              <a:spcBef>
                <a:spcPts val="600"/>
              </a:spcBef>
            </a:pPr>
            <a:r>
              <a:rPr sz="1600" b="0">
                <a:solidFill>
                  <a:srgbClr val="000000"/>
                </a:solidFill>
                <a:latin typeface="Times New Roman"/>
                <a:ea typeface="楷体"/>
                <a:cs typeface="楷体"/>
              </a:rPr>
              <a:t>论文二：只做描述分析，没有预测模型</a:t>
            </a:r>
          </a:p>
          <a:p>
            <a:pPr>
              <a:spcBef>
                <a:spcPts val="600"/>
              </a:spcBef>
            </a:pPr>
            <a:r>
              <a:rPr sz="1600" b="0">
                <a:solidFill>
                  <a:srgbClr val="000000"/>
                </a:solidFill>
                <a:latin typeface="Times New Roman"/>
                <a:ea typeface="楷体"/>
                <a:cs typeface="楷体"/>
              </a:rPr>
              <a:t>论文三：固定粒度，没有任务条件化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0000" y="4200000"/>
            <a:ext cx="5200000" cy="2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</a:pPr>
            <a:r>
              <a:rPr sz="1600" b="0">
                <a:solidFill>
                  <a:srgbClr val="0166A4"/>
                </a:solidFill>
                <a:latin typeface="Times New Roman"/>
                <a:ea typeface="楷体"/>
                <a:cs typeface="楷体"/>
              </a:rPr>
              <a:t>我们的机会</a:t>
            </a:r>
          </a:p>
          <a:p>
            <a:pPr>
              <a:spcBef>
                <a:spcPts val="600"/>
              </a:spcBef>
            </a:pPr>
            <a:r>
              <a:rPr sz="1600" b="0">
                <a:solidFill>
                  <a:srgbClr val="0166A4"/>
                </a:solidFill>
                <a:latin typeface="Times New Roman"/>
                <a:ea typeface="楷体"/>
                <a:cs typeface="楷体"/>
              </a:rPr>
              <a:t/>
            </a:r>
          </a:p>
          <a:p>
            <a:pPr>
              <a:spcBef>
                <a:spcPts val="600"/>
              </a:spcBef>
            </a:pPr>
            <a:r>
              <a:rPr sz="1600" b="0">
                <a:solidFill>
                  <a:srgbClr val="0166A4"/>
                </a:solidFill>
                <a:latin typeface="Times New Roman"/>
                <a:ea typeface="楷体"/>
                <a:cs typeface="楷体"/>
              </a:rPr>
              <a:t>σ_t = f(patient_state, task)</a:t>
            </a:r>
          </a:p>
          <a:p>
            <a:pPr>
              <a:spcBef>
                <a:spcPts val="600"/>
              </a:spcBef>
            </a:pPr>
            <a:r>
              <a:rPr sz="1600" b="0">
                <a:solidFill>
                  <a:srgbClr val="0166A4"/>
                </a:solidFill>
                <a:latin typeface="Times New Roman"/>
                <a:ea typeface="楷体"/>
                <a:cs typeface="楷体"/>
              </a:rPr>
              <a:t>自适应时间核学习每个患者、</a:t>
            </a:r>
          </a:p>
          <a:p>
            <a:pPr>
              <a:spcBef>
                <a:spcPts val="600"/>
              </a:spcBef>
            </a:pPr>
            <a:r>
              <a:rPr sz="1600" b="0">
                <a:solidFill>
                  <a:srgbClr val="0166A4"/>
                </a:solidFill>
                <a:latin typeface="Times New Roman"/>
                <a:ea typeface="楷体"/>
                <a:cs typeface="楷体"/>
              </a:rPr>
              <a:t>每个任务的时间带宽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00000" y="4200000"/>
            <a:ext cx="5200000" cy="2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</a:pPr>
            <a:r>
              <a:rPr sz="1600" b="0">
                <a:solidFill>
                  <a:srgbClr val="000000"/>
                </a:solidFill>
                <a:latin typeface="Times New Roman"/>
                <a:ea typeface="楷体"/>
                <a:cs typeface="楷体"/>
              </a:rPr>
              <a:t>未来方向</a:t>
            </a:r>
          </a:p>
          <a:p>
            <a:pPr>
              <a:spcBef>
                <a:spcPts val="600"/>
              </a:spcBef>
            </a:pPr>
            <a:r>
              <a:rPr sz="1600" b="0">
                <a:solidFill>
                  <a:srgbClr val="000000"/>
                </a:solidFill>
                <a:latin typeface="Times New Roman"/>
                <a:ea typeface="楷体"/>
                <a:cs typeface="楷体"/>
              </a:rPr>
              <a:t/>
            </a:r>
          </a:p>
          <a:p>
            <a:pPr>
              <a:spcBef>
                <a:spcPts val="600"/>
              </a:spcBef>
            </a:pPr>
            <a:r>
              <a:rPr sz="1600" b="0">
                <a:solidFill>
                  <a:srgbClr val="000000"/>
                </a:solidFill>
                <a:latin typeface="Times New Roman"/>
                <a:ea typeface="楷体"/>
                <a:cs typeface="楷体"/>
              </a:rPr>
              <a:t>变更追踪 + 自适应 σ_t 切换点</a:t>
            </a:r>
          </a:p>
          <a:p>
            <a:pPr>
              <a:spcBef>
                <a:spcPts val="600"/>
              </a:spcBef>
            </a:pPr>
            <a:r>
              <a:rPr sz="1600" b="0">
                <a:solidFill>
                  <a:srgbClr val="000000"/>
                </a:solidFill>
                <a:latin typeface="Times New Roman"/>
                <a:ea typeface="楷体"/>
                <a:cs typeface="楷体"/>
              </a:rPr>
              <a:t>用知识图谱做时间语义知识基底</a:t>
            </a:r>
          </a:p>
          <a:p>
            <a:pPr>
              <a:spcBef>
                <a:spcPts val="600"/>
              </a:spcBef>
            </a:pPr>
            <a:r>
              <a:rPr sz="1600" b="0">
                <a:solidFill>
                  <a:srgbClr val="000000"/>
                </a:solidFill>
                <a:latin typeface="Times New Roman"/>
                <a:ea typeface="楷体"/>
                <a:cs typeface="楷体"/>
              </a:rPr>
              <a:t>将 GDP 的 NTP 升级为自适应预测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00000" y="500000"/>
            <a:ext cx="11000000" cy="8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0166A4"/>
                </a:solidFill>
                <a:latin typeface="Times New Roman"/>
                <a:ea typeface="楷体"/>
                <a:cs typeface="楷体"/>
              </a:rPr>
              <a:t>下一步计划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0000" y="1500000"/>
            <a:ext cx="11000000" cy="50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1000"/>
              </a:spcBef>
            </a:pPr>
            <a:r>
              <a:rPr sz="2200" b="0">
                <a:solidFill>
                  <a:srgbClr val="000000"/>
                </a:solidFill>
                <a:latin typeface="Times New Roman"/>
                <a:ea typeface="楷体"/>
                <a:cs typeface="楷体"/>
              </a:rPr>
              <a:t>1. 实现自适应时间核模块</a:t>
            </a:r>
          </a:p>
          <a:p>
            <a:pPr>
              <a:spcBef>
                <a:spcPts val="1000"/>
              </a:spcBef>
            </a:pPr>
            <a:r>
              <a:rPr sz="2200" b="0">
                <a:solidFill>
                  <a:srgbClr val="000000"/>
                </a:solidFill>
                <a:latin typeface="Times New Roman"/>
                <a:ea typeface="楷体"/>
                <a:cs typeface="楷体"/>
              </a:rPr>
              <a:t>2. 固定窗口对比实验（RQ1）</a:t>
            </a:r>
          </a:p>
          <a:p>
            <a:pPr>
              <a:spcBef>
                <a:spcPts val="1000"/>
              </a:spcBef>
            </a:pPr>
            <a:r>
              <a:rPr sz="2200" b="0">
                <a:solidFill>
                  <a:srgbClr val="000000"/>
                </a:solidFill>
                <a:latin typeface="Times New Roman"/>
                <a:ea typeface="楷体"/>
                <a:cs typeface="楷体"/>
              </a:rPr>
              <a:t>3. 在 MIMIC-IV 上训练 4 个临床任务</a:t>
            </a:r>
          </a:p>
          <a:p>
            <a:pPr>
              <a:spcBef>
                <a:spcPts val="1000"/>
              </a:spcBef>
            </a:pPr>
            <a:r>
              <a:rPr sz="2200" b="0">
                <a:solidFill>
                  <a:srgbClr val="000000"/>
                </a:solidFill>
                <a:latin typeface="Times New Roman"/>
                <a:ea typeface="楷体"/>
                <a:cs typeface="楷体"/>
              </a:rPr>
              <a:t>4. 分析学到的 σ_t 与临床指标的相关性（RQ2）</a:t>
            </a:r>
          </a:p>
          <a:p>
            <a:pPr>
              <a:spcBef>
                <a:spcPts val="1000"/>
              </a:spcBef>
            </a:pPr>
            <a:r>
              <a:rPr sz="2200" b="0">
                <a:solidFill>
                  <a:srgbClr val="000000"/>
                </a:solidFill>
                <a:latin typeface="Times New Roman"/>
                <a:ea typeface="楷体"/>
                <a:cs typeface="楷体"/>
              </a:rPr>
              <a:t>5. 任务条件化评估（RQ3）</a:t>
            </a:r>
          </a:p>
          <a:p>
            <a:pPr>
              <a:spcBef>
                <a:spcPts val="1000"/>
              </a:spcBef>
            </a:pPr>
            <a:r>
              <a:rPr sz="2200" b="0">
                <a:solidFill>
                  <a:srgbClr val="000000"/>
                </a:solidFill>
                <a:latin typeface="Times New Roman"/>
                <a:ea typeface="楷体"/>
                <a:cs typeface="楷体"/>
              </a:rPr>
              <a:t>6. 消融实验：A1 -&gt; A5</a:t>
            </a:r>
          </a:p>
          <a:p>
            <a:pPr>
              <a:spcBef>
                <a:spcPts val="1000"/>
              </a:spcBef>
            </a:pPr>
            <a:r>
              <a:rPr sz="2200" b="0">
                <a:solidFill>
                  <a:srgbClr val="000000"/>
                </a:solidFill>
                <a:latin typeface="Times New Roman"/>
                <a:ea typeface="楷体"/>
                <a:cs typeface="楷体"/>
              </a:rPr>
              <a:t>7. 论文撰写与投稿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166A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00000" y="2000000"/>
            <a:ext cx="8000000" cy="1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800" b="1">
                <a:solidFill>
                  <a:srgbClr val="FFFFFF"/>
                </a:solidFill>
                <a:latin typeface="Times New Roman"/>
                <a:ea typeface="楷体"/>
                <a:cs typeface="楷体"/>
              </a:rPr>
              <a:t>谢谢大家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0000" y="4000000"/>
            <a:ext cx="8000000" cy="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0">
                <a:solidFill>
                  <a:srgbClr val="FFFFFF"/>
                </a:solidFill>
                <a:latin typeface="Times New Roman"/>
                <a:ea typeface="楷体"/>
                <a:cs typeface="楷体"/>
              </a:rPr>
              <a:t>欢迎提问与讨论</a:t>
            </a: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5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32999184b993c31d7786fe1e68ed5502bd7b635a"/>
  <p:tag name="KSO_WM_NEWLAYOUT_ID" val="22"/>
</p:tagLst>
</file>

<file path=ppt/tags/tag16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UNIT_INDEX" val="1_1_1"/>
  <p:tag name="KSO_WM_UNIT_TYPE" val="l_h_i"/>
</p:tagLst>
</file>

<file path=ppt/tags/tag1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SYNC_SLIDE_TEXT" val="1"/>
  <p:tag name="KSO_WM_UNIT_INDEX" val="1_1_3"/>
  <p:tag name="KSO_WM_UNIT_SUBTYPE" val="d"/>
  <p:tag name="KSO_WM_UNIT_TYPE" val="l_h_i"/>
</p:tagLst>
</file>

<file path=ppt/tags/tag1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9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UNIT_INDEX" val="1_2_1"/>
  <p:tag name="KSO_WM_UNIT_TYPE" val="l_h_i"/>
</p:tagLst>
</file>

<file path=ppt/tags/tag2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SYNC_SLIDE_TEXT" val="1"/>
  <p:tag name="KSO_WM_UNIT_INDEX" val="1_2_3"/>
  <p:tag name="KSO_WM_UNIT_SUBTYPE" val="d"/>
  <p:tag name="KSO_WM_UNIT_TYPE" val="l_h_i"/>
</p:tagLst>
</file>

<file path=ppt/tags/tag2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22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UNIT_INDEX" val="1_3_1"/>
  <p:tag name="KSO_WM_UNIT_TYPE" val="l_h_i"/>
</p:tagLst>
</file>

<file path=ppt/tags/tag2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SYNC_SLIDE_TEXT" val="1"/>
  <p:tag name="KSO_WM_UNIT_INDEX" val="1_3_3"/>
  <p:tag name="KSO_WM_UNIT_SUBTYPE" val="d"/>
  <p:tag name="KSO_WM_UNIT_TYPE" val="l_h_i"/>
</p:tagLst>
</file>

<file path=ppt/tags/tag2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80.xml><?xml version="1.0" encoding="utf-8"?>
<p:tagLst xmlns:p="http://schemas.openxmlformats.org/presentationml/2006/main">
  <p:tag name="resource_record_key" val="{&quot;10&quot;:[21538602,4527388,20282147,21587947,50033282,20051811,50036920,20280177,20254439,50062482],&quot;65&quot;:[20205081]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2373</Words>
  <Application>WPS 演示</Application>
  <PresentationFormat>宽屏</PresentationFormat>
  <Paragraphs>219</Paragraphs>
  <Slides>18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38" baseType="lpstr">
      <vt:lpstr>Arial</vt:lpstr>
      <vt:lpstr>宋体</vt:lpstr>
      <vt:lpstr>Wingdings</vt:lpstr>
      <vt:lpstr>Wingdings</vt:lpstr>
      <vt:lpstr>微软雅黑</vt:lpstr>
      <vt:lpstr>OPPOSans R</vt:lpstr>
      <vt:lpstr>Calibri</vt:lpstr>
      <vt:lpstr>汉仪君黑-45简</vt:lpstr>
      <vt:lpstr>MiSans Light</vt:lpstr>
      <vt:lpstr>思源黑体 CN Bold</vt:lpstr>
      <vt:lpstr>黑体</vt:lpstr>
      <vt:lpstr>思源黑体 Regular</vt:lpstr>
      <vt:lpstr>思源黑体 Bold</vt:lpstr>
      <vt:lpstr>汉仪超粗圆简</vt:lpstr>
      <vt:lpstr>汉仪粗简黑简</vt:lpstr>
      <vt:lpstr>等线</vt:lpstr>
      <vt:lpstr>OPPOSans H</vt:lpstr>
      <vt:lpstr>汉仪颜楷简</vt:lpstr>
      <vt:lpstr>Arial Unicode MS</vt:lpstr>
      <vt:lpstr>WPS</vt:lpstr>
      <vt:lpstr>PowerPoint 演示文稿</vt:lpstr>
      <vt:lpstr>Contents</vt:lpstr>
      <vt:lpstr>Click here to add your title</vt:lpstr>
      <vt:lpstr>PowerPoint 演示文稿</vt:lpstr>
      <vt:lpstr>PowerPoint 演示文稿</vt:lpstr>
      <vt:lpstr>PowerPoint 演示文稿</vt:lpstr>
      <vt:lpstr>PowerPoint 演示文稿</vt:lpstr>
      <vt:lpstr>Click here to add your title</vt:lpstr>
      <vt:lpstr>PowerPoint 演示文稿</vt:lpstr>
      <vt:lpstr>PowerPoint 演示文稿</vt:lpstr>
      <vt:lpstr>PowerPoint 演示文稿</vt:lpstr>
      <vt:lpstr>PowerPoint 演示文稿</vt:lpstr>
      <vt:lpstr>Click here to add your title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April</cp:lastModifiedBy>
  <cp:revision>199</cp:revision>
  <dcterms:created xsi:type="dcterms:W3CDTF">2019-06-19T02:08:00Z</dcterms:created>
  <dcterms:modified xsi:type="dcterms:W3CDTF">2026-05-26T06:03:52Z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2052-12.1.0.22175</vt:lpwstr>
  </property>
  <property fmtid="{D5CDD505-2E9C-101B-9397-08002B2CF9AE}" pid="3" name="ICV">
    <vt:lpwstr>343CE61C1A954672BD19B24F0C3FCCC3_13</vt:lpwstr>
  </property>
</Properties>
</file>